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90" r:id="rId4"/>
    <p:sldId id="257" r:id="rId5"/>
    <p:sldId id="258" r:id="rId6"/>
    <p:sldId id="259" r:id="rId7"/>
    <p:sldId id="285" r:id="rId8"/>
    <p:sldId id="260" r:id="rId9"/>
    <p:sldId id="286" r:id="rId10"/>
    <p:sldId id="261" r:id="rId11"/>
    <p:sldId id="283" r:id="rId12"/>
    <p:sldId id="284" r:id="rId13"/>
    <p:sldId id="265" r:id="rId14"/>
    <p:sldId id="270" r:id="rId15"/>
    <p:sldId id="266" r:id="rId16"/>
    <p:sldId id="273" r:id="rId17"/>
    <p:sldId id="267" r:id="rId18"/>
    <p:sldId id="278" r:id="rId19"/>
    <p:sldId id="268" r:id="rId20"/>
    <p:sldId id="269" r:id="rId21"/>
    <p:sldId id="287" r:id="rId22"/>
    <p:sldId id="291" r:id="rId23"/>
    <p:sldId id="288" r:id="rId24"/>
    <p:sldId id="292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5833" autoAdjust="0"/>
  </p:normalViewPr>
  <p:slideViewPr>
    <p:cSldViewPr snapToGrid="0" snapToObjects="1">
      <p:cViewPr>
        <p:scale>
          <a:sx n="75" d="100"/>
          <a:sy n="75" d="100"/>
        </p:scale>
        <p:origin x="-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22328-6DA0-4FA5-A06B-AF8D949ADF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C5904-5520-4A89-BFDB-C840A5D330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98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빌드 </a:t>
            </a:r>
            <a:r>
              <a:rPr lang="ko-KR" altLang="en-US" dirty="0" err="1"/>
              <a:t>클린</a:t>
            </a:r>
            <a:r>
              <a:rPr lang="ko-KR" altLang="en-US" dirty="0"/>
              <a:t> 조 발표 시작하겠습니다</a:t>
            </a:r>
            <a:r>
              <a:rPr lang="en-US" altLang="ko-KR" dirty="0"/>
              <a:t>.</a:t>
            </a:r>
            <a:endParaRPr lang="en-US" altLang="ko-KR" sz="1200" b="1" dirty="0">
              <a:solidFill>
                <a:srgbClr val="005AB4"/>
              </a:solidFill>
              <a:latin typeface="Malgun Gothic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92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팀 소개입니다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</a:t>
            </a:r>
            <a:r>
              <a:rPr lang="ko-KR" altLang="en-US" dirty="0" err="1"/>
              <a:t>팀명은</a:t>
            </a:r>
            <a:r>
              <a:rPr lang="ko-KR" altLang="en-US" dirty="0"/>
              <a:t> </a:t>
            </a:r>
            <a:r>
              <a:rPr lang="en-US" altLang="ko-KR" b="1" dirty="0"/>
              <a:t>Build Clean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팀명에는</a:t>
            </a:r>
            <a:br>
              <a:rPr lang="ko-KR" altLang="en-US" dirty="0"/>
            </a:br>
            <a:r>
              <a:rPr lang="ko-KR" altLang="en-US" dirty="0"/>
              <a:t>“동작만 하는 코드가 아니라</a:t>
            </a:r>
            <a:r>
              <a:rPr lang="en-US" altLang="ko-KR" dirty="0"/>
              <a:t>, </a:t>
            </a:r>
            <a:r>
              <a:rPr lang="ko-KR" altLang="en-US" dirty="0"/>
              <a:t>읽기 쉽고 유지보수하기 좋은 </a:t>
            </a:r>
            <a:r>
              <a:rPr lang="ko-KR" altLang="en-US" dirty="0" err="1"/>
              <a:t>클린</a:t>
            </a:r>
            <a:r>
              <a:rPr lang="ko-KR" altLang="en-US" dirty="0"/>
              <a:t> 코드를 </a:t>
            </a:r>
            <a:r>
              <a:rPr lang="ko-KR" altLang="en-US" dirty="0" err="1"/>
              <a:t>만들자”는</a:t>
            </a:r>
            <a:r>
              <a:rPr lang="ko-KR" altLang="en-US" dirty="0"/>
              <a:t> 의미를 담았습니다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역할은 인터프리터 파이프라인 기준으로 나누었습니다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임지웅</a:t>
            </a:r>
            <a:r>
              <a:rPr lang="ko-KR" altLang="en-US" dirty="0"/>
              <a:t> 팀원은 </a:t>
            </a:r>
            <a:r>
              <a:rPr lang="en-US" altLang="ko-KR" b="1" dirty="0"/>
              <a:t>Tokenizer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최종원 팀원은 </a:t>
            </a:r>
            <a:r>
              <a:rPr lang="en-US" altLang="ko-KR" b="1" dirty="0"/>
              <a:t>Parser</a:t>
            </a:r>
            <a:r>
              <a:rPr lang="ko-KR" altLang="en-US" b="1" dirty="0"/>
              <a:t>와 </a:t>
            </a:r>
            <a:r>
              <a:rPr lang="en-US" altLang="ko-KR" b="1" dirty="0"/>
              <a:t>Shell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이수련</a:t>
            </a:r>
            <a:r>
              <a:rPr lang="ko-KR" altLang="en-US" dirty="0"/>
              <a:t> 팀원은 </a:t>
            </a:r>
            <a:r>
              <a:rPr lang="en-US" altLang="ko-KR" b="1" dirty="0"/>
              <a:t>Checker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우상욱 팀원은 </a:t>
            </a:r>
            <a:r>
              <a:rPr lang="en-US" altLang="ko-KR" b="1" dirty="0"/>
              <a:t>Executor</a:t>
            </a:r>
            <a:r>
              <a:rPr lang="ko-KR" altLang="en-US" dirty="0"/>
              <a:t>를 담당했습니다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외에도 </a:t>
            </a:r>
            <a:r>
              <a:rPr lang="en-US" altLang="ko-KR" dirty="0"/>
              <a:t>GitHub </a:t>
            </a:r>
            <a:r>
              <a:rPr lang="ko-KR" altLang="en-US" dirty="0"/>
              <a:t>관리</a:t>
            </a:r>
            <a:r>
              <a:rPr lang="en-US" altLang="ko-KR" dirty="0"/>
              <a:t>, </a:t>
            </a:r>
            <a:r>
              <a:rPr lang="ko-KR" altLang="en-US" dirty="0"/>
              <a:t>버그 수정</a:t>
            </a:r>
            <a:r>
              <a:rPr lang="en-US" altLang="ko-KR" dirty="0"/>
              <a:t>, </a:t>
            </a:r>
            <a:r>
              <a:rPr lang="ko-KR" altLang="en-US" dirty="0"/>
              <a:t>안정성 검증</a:t>
            </a:r>
            <a:r>
              <a:rPr lang="en-US" altLang="ko-KR" dirty="0"/>
              <a:t>, </a:t>
            </a:r>
            <a:r>
              <a:rPr lang="ko-KR" altLang="en-US" dirty="0"/>
              <a:t>매뉴얼 작성</a:t>
            </a:r>
            <a:r>
              <a:rPr lang="en-US" altLang="ko-KR" dirty="0"/>
              <a:t>, </a:t>
            </a:r>
            <a:r>
              <a:rPr lang="ko-KR" altLang="en-US" dirty="0"/>
              <a:t>발표 자료 작성 같은 역할도 함께 나누어 진행했습니다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각자 담당 모듈은 나누었지만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최종적으로는 코드 리뷰를 통해 서로의 코드를 확인하고 병합했습니다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690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발표는 다섯 부분으로 진행하겠습니다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팀 소개를 마치고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기능 구현</a:t>
            </a:r>
            <a:r>
              <a:rPr lang="en-US" altLang="ko-KR" dirty="0"/>
              <a:t>, Best Practice </a:t>
            </a:r>
            <a:r>
              <a:rPr lang="ko-KR" altLang="en-US" dirty="0"/>
              <a:t>사례</a:t>
            </a:r>
            <a:r>
              <a:rPr lang="en-US" altLang="ko-KR" dirty="0"/>
              <a:t>, Interpreter </a:t>
            </a:r>
            <a:r>
              <a:rPr lang="ko-KR" altLang="en-US" dirty="0"/>
              <a:t>시연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마지막으로 요약과 소감 순서로 말씀드리겠습니다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359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기능 구현입니다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기능 구현 파트에서는 </a:t>
            </a:r>
            <a:r>
              <a:rPr lang="en-US" altLang="ko-KR" b="1" dirty="0"/>
              <a:t>5</a:t>
            </a:r>
            <a:r>
              <a:rPr lang="ko-KR" altLang="en-US" b="1" dirty="0"/>
              <a:t>단계 파이프라인 구조와 적용된 </a:t>
            </a:r>
            <a:r>
              <a:rPr lang="en-US" altLang="ko-KR" b="1" dirty="0" err="1"/>
              <a:t>GoF</a:t>
            </a:r>
            <a:r>
              <a:rPr lang="en-US" altLang="ko-KR" b="1" dirty="0"/>
              <a:t> </a:t>
            </a:r>
            <a:r>
              <a:rPr lang="ko-KR" altLang="en-US" b="1" dirty="0"/>
              <a:t>디자인 패턴 </a:t>
            </a:r>
            <a:r>
              <a:rPr lang="en-US" altLang="ko-KR" b="1" dirty="0"/>
              <a:t>6</a:t>
            </a:r>
            <a:r>
              <a:rPr lang="ko-KR" altLang="en-US" b="1" dirty="0"/>
              <a:t>종</a:t>
            </a:r>
            <a:r>
              <a:rPr lang="ko-KR" altLang="en-US" dirty="0"/>
              <a:t> 중심으로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770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페이지는 </a:t>
            </a:r>
            <a:r>
              <a:rPr lang="en-US" altLang="ko-KR" dirty="0"/>
              <a:t>Interpreter</a:t>
            </a:r>
            <a:r>
              <a:rPr lang="ko-KR" altLang="en-US" dirty="0"/>
              <a:t>의 전체 실행 흐름입니다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 사용자가 다음과 같은 코드를 입력했다고 하겠습니다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var x = 2 + 3;</a:t>
            </a:r>
          </a:p>
          <a:p>
            <a:r>
              <a:rPr lang="ko-KR" altLang="en-US" dirty="0"/>
              <a:t>이 코드는 바로 실행되지 않고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단계를 거칩니다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b="1" dirty="0"/>
              <a:t>Tokenizer</a:t>
            </a:r>
            <a:r>
              <a:rPr lang="ko-KR" altLang="en-US" dirty="0"/>
              <a:t>가 문자열을 의미 있는 단위로 나눕니다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var, x, =, 2, +, 3, ; </a:t>
            </a:r>
            <a:r>
              <a:rPr lang="ko-KR" altLang="en-US" dirty="0"/>
              <a:t>같은 토큰이 만들어집니다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</a:t>
            </a:r>
            <a:r>
              <a:rPr lang="en-US" altLang="ko-KR" b="1" dirty="0"/>
              <a:t>Parser</a:t>
            </a:r>
            <a:r>
              <a:rPr lang="ko-KR" altLang="en-US" dirty="0"/>
              <a:t>가 토큰을 문법에 맞게 </a:t>
            </a:r>
            <a:r>
              <a:rPr lang="en-US" altLang="ko-KR" dirty="0"/>
              <a:t>AST</a:t>
            </a:r>
            <a:r>
              <a:rPr lang="ko-KR" altLang="en-US" dirty="0"/>
              <a:t>로 조립합니다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여기서는 </a:t>
            </a:r>
            <a:r>
              <a:rPr lang="en-US" altLang="ko-KR" dirty="0"/>
              <a:t>x</a:t>
            </a:r>
            <a:r>
              <a:rPr lang="ko-KR" altLang="en-US" dirty="0"/>
              <a:t>라는 변수 선언과</a:t>
            </a:r>
            <a:r>
              <a:rPr lang="en-US" altLang="ko-KR" dirty="0"/>
              <a:t>, </a:t>
            </a:r>
            <a:r>
              <a:rPr lang="ko-KR" altLang="en-US" dirty="0"/>
              <a:t>오른쪽의 </a:t>
            </a:r>
            <a:r>
              <a:rPr lang="en-US" altLang="ko-KR" dirty="0"/>
              <a:t>2 + 3 </a:t>
            </a:r>
            <a:r>
              <a:rPr lang="ko-KR" altLang="en-US" dirty="0"/>
              <a:t>표현식 트리가 만들어집니다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그다음</a:t>
            </a:r>
            <a:r>
              <a:rPr lang="ko-KR" altLang="en-US" dirty="0"/>
              <a:t> </a:t>
            </a:r>
            <a:r>
              <a:rPr lang="en-US" altLang="ko-KR" b="1" dirty="0"/>
              <a:t>Checker</a:t>
            </a:r>
            <a:r>
              <a:rPr lang="ko-KR" altLang="en-US" dirty="0"/>
              <a:t>가 실행 전에 의미 오류를 검사합니다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예를 들어 변수가 선언되었는지</a:t>
            </a:r>
            <a:r>
              <a:rPr lang="en-US" altLang="ko-KR" dirty="0"/>
              <a:t>, </a:t>
            </a:r>
            <a:r>
              <a:rPr lang="ko-KR" altLang="en-US" dirty="0"/>
              <a:t>중복 선언은 없는지 확인합니다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</a:t>
            </a:r>
            <a:r>
              <a:rPr lang="en-US" altLang="ko-KR" b="1" dirty="0"/>
              <a:t>Optimizer</a:t>
            </a:r>
            <a:r>
              <a:rPr lang="ko-KR" altLang="en-US" dirty="0"/>
              <a:t>가 </a:t>
            </a:r>
            <a:r>
              <a:rPr lang="en-US" altLang="ko-KR" dirty="0"/>
              <a:t>AST</a:t>
            </a:r>
            <a:r>
              <a:rPr lang="ko-KR" altLang="en-US" dirty="0"/>
              <a:t>를 최적화합니다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예시에서는 </a:t>
            </a:r>
            <a:r>
              <a:rPr lang="en-US" altLang="ko-KR" dirty="0"/>
              <a:t>2 + 3</a:t>
            </a:r>
            <a:r>
              <a:rPr lang="ko-KR" altLang="en-US" dirty="0"/>
              <a:t>처럼 결과가 고정된 상수식을 미리 </a:t>
            </a:r>
            <a:r>
              <a:rPr lang="en-US" altLang="ko-KR" dirty="0"/>
              <a:t>5</a:t>
            </a:r>
            <a:r>
              <a:rPr lang="ko-KR" altLang="en-US" dirty="0"/>
              <a:t>로 바꿀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</a:t>
            </a:r>
            <a:r>
              <a:rPr lang="en-US" altLang="ko-KR" b="1" dirty="0"/>
              <a:t>Executor</a:t>
            </a:r>
            <a:r>
              <a:rPr lang="ko-KR" altLang="en-US" dirty="0"/>
              <a:t>가 최종 </a:t>
            </a:r>
            <a:r>
              <a:rPr lang="en-US" altLang="ko-KR" dirty="0"/>
              <a:t>AST</a:t>
            </a:r>
            <a:r>
              <a:rPr lang="ko-KR" altLang="en-US" dirty="0"/>
              <a:t>를 순회하면서 실행합니다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결과적으로 환경에 </a:t>
            </a:r>
            <a:r>
              <a:rPr lang="en-US" altLang="ko-KR" dirty="0"/>
              <a:t>x = 5</a:t>
            </a:r>
            <a:r>
              <a:rPr lang="ko-KR" altLang="en-US" dirty="0"/>
              <a:t>가 저장됩니다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정리하면</a:t>
            </a:r>
            <a:r>
              <a:rPr lang="en-US" altLang="ko-KR" dirty="0"/>
              <a:t>, Interpreter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ko-KR" altLang="en-US" b="1" dirty="0"/>
              <a:t>문자열 → 토큰 → </a:t>
            </a:r>
            <a:r>
              <a:rPr lang="en-US" altLang="ko-KR" b="1" dirty="0"/>
              <a:t>AST → </a:t>
            </a:r>
            <a:r>
              <a:rPr lang="ko-KR" altLang="en-US" b="1" dirty="0"/>
              <a:t>의미 검사 → 최적화 → 실행</a:t>
            </a:r>
            <a:br>
              <a:rPr lang="ko-KR" altLang="en-US" dirty="0"/>
            </a:br>
            <a:r>
              <a:rPr lang="ko-KR" altLang="en-US" dirty="0"/>
              <a:t>순서로 동작합니다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191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프론트엔드는</a:t>
            </a:r>
            <a:r>
              <a:rPr lang="ko-KR" altLang="en-US" dirty="0"/>
              <a:t> 소스 코드를 읽어서</a:t>
            </a:r>
            <a:br>
              <a:rPr lang="ko-KR" altLang="en-US" dirty="0"/>
            </a:br>
            <a:r>
              <a:rPr lang="ko-KR" altLang="en-US" dirty="0"/>
              <a:t>실행 가능한 구조로 바꾸는 </a:t>
            </a:r>
            <a:r>
              <a:rPr lang="ko-KR" altLang="en-US" dirty="0" err="1"/>
              <a:t>앞단</a:t>
            </a:r>
            <a:r>
              <a:rPr lang="ko-KR" altLang="en-US" dirty="0"/>
              <a:t> 역할을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b="1" dirty="0"/>
              <a:t>Tokenizer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Tokenizer</a:t>
            </a:r>
            <a:r>
              <a:rPr lang="ko-KR" altLang="en-US" dirty="0"/>
              <a:t>는 소스 문자열을 토큰으로 분리합니다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예를 들어 </a:t>
            </a:r>
            <a:r>
              <a:rPr lang="en-US" altLang="ko-KR" dirty="0"/>
              <a:t>var x = 12;</a:t>
            </a:r>
            <a:r>
              <a:rPr lang="ko-KR" altLang="en-US" dirty="0"/>
              <a:t>라는 코드가 들어오면</a:t>
            </a:r>
            <a:br>
              <a:rPr lang="ko-KR" altLang="en-US" dirty="0"/>
            </a:br>
            <a:r>
              <a:rPr lang="en-US" altLang="ko-KR" dirty="0"/>
              <a:t>VAR, IDENT(x), NUMBER(12) </a:t>
            </a:r>
            <a:r>
              <a:rPr lang="ko-KR" altLang="en-US" dirty="0"/>
              <a:t>같은 의미 단위로 나눕니다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 중요한 점은</a:t>
            </a:r>
            <a:br>
              <a:rPr lang="ko-KR" altLang="en-US" dirty="0"/>
            </a:br>
            <a:r>
              <a:rPr lang="en-US" altLang="ko-KR" dirty="0"/>
              <a:t>var</a:t>
            </a:r>
            <a:r>
              <a:rPr lang="ko-KR" altLang="en-US" dirty="0"/>
              <a:t>처럼 언어에서 정한 </a:t>
            </a:r>
            <a:r>
              <a:rPr lang="ko-KR" altLang="en-US" dirty="0" err="1"/>
              <a:t>예약어와</a:t>
            </a:r>
            <a:br>
              <a:rPr lang="ko-KR" altLang="en-US" dirty="0"/>
            </a:br>
            <a:r>
              <a:rPr lang="ko-KR" altLang="en-US" dirty="0"/>
              <a:t>사용자가 만든 식별자를 구분하는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 지원하지 않는 문자나 연산자는 이 단계에서 조기에 감지합니다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다음은 </a:t>
            </a:r>
            <a:r>
              <a:rPr lang="en-US" altLang="ko-KR" b="1" dirty="0"/>
              <a:t>Parser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Parser</a:t>
            </a:r>
            <a:r>
              <a:rPr lang="ko-KR" altLang="en-US" dirty="0"/>
              <a:t>는 토큰을 문법 규칙에 맞게 </a:t>
            </a:r>
            <a:r>
              <a:rPr lang="en-US" altLang="ko-KR" dirty="0"/>
              <a:t>AST</a:t>
            </a:r>
            <a:r>
              <a:rPr lang="ko-KR" altLang="en-US" dirty="0"/>
              <a:t>로 조립합니다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예를 들어 </a:t>
            </a:r>
            <a:r>
              <a:rPr lang="en-US" altLang="ko-KR" dirty="0"/>
              <a:t>2 + 3 * 4</a:t>
            </a:r>
            <a:r>
              <a:rPr lang="ko-KR" altLang="en-US" dirty="0"/>
              <a:t>는 곱셈이 먼저 계산되어야 하므로</a:t>
            </a:r>
            <a:br>
              <a:rPr lang="ko-KR" altLang="en-US" dirty="0"/>
            </a:br>
            <a:r>
              <a:rPr lang="en-US" altLang="ko-KR" dirty="0"/>
              <a:t>2 + (3 * 4) </a:t>
            </a:r>
            <a:r>
              <a:rPr lang="ko-KR" altLang="en-US" dirty="0"/>
              <a:t>형태의 트리로 만들어집니다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마지막은 </a:t>
            </a:r>
            <a:r>
              <a:rPr lang="en-US" altLang="ko-KR" b="1" dirty="0"/>
              <a:t>Checker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Checker</a:t>
            </a:r>
            <a:r>
              <a:rPr lang="ko-KR" altLang="en-US" dirty="0"/>
              <a:t>는 실행 전에 의미 오류를 검사합니다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예를 들어 </a:t>
            </a:r>
            <a:r>
              <a:rPr lang="en-US" altLang="ko-KR" dirty="0"/>
              <a:t>print y;</a:t>
            </a:r>
            <a:r>
              <a:rPr lang="ko-KR" altLang="en-US" dirty="0"/>
              <a:t>처럼 선언되지 않은 변수를 사용하면</a:t>
            </a:r>
            <a:br>
              <a:rPr lang="ko-KR" altLang="en-US" dirty="0"/>
            </a:br>
            <a:r>
              <a:rPr lang="ko-KR" altLang="en-US" dirty="0"/>
              <a:t>실행 단계까지 가지 않고 오류를 발생시킵니다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프론트엔드는</a:t>
            </a:r>
            <a:br>
              <a:rPr lang="ko-KR" altLang="en-US" dirty="0"/>
            </a:br>
            <a:r>
              <a:rPr lang="ko-KR" altLang="en-US" b="1" dirty="0"/>
              <a:t>토큰화</a:t>
            </a:r>
            <a:r>
              <a:rPr lang="en-US" altLang="ko-KR" b="1" dirty="0"/>
              <a:t>, AST </a:t>
            </a:r>
            <a:r>
              <a:rPr lang="ko-KR" altLang="en-US" b="1" dirty="0"/>
              <a:t>생성</a:t>
            </a:r>
            <a:r>
              <a:rPr lang="en-US" altLang="ko-KR" b="1" dirty="0"/>
              <a:t>, </a:t>
            </a:r>
            <a:r>
              <a:rPr lang="ko-KR" altLang="en-US" b="1" dirty="0"/>
              <a:t>실행 전 오류 검사</a:t>
            </a:r>
            <a:r>
              <a:rPr lang="ko-KR" altLang="en-US" dirty="0"/>
              <a:t>를 담당합니다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54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백엔드는</a:t>
            </a:r>
            <a:r>
              <a:rPr lang="ko-KR" altLang="en-US" dirty="0"/>
              <a:t> 만들어진 </a:t>
            </a:r>
            <a:r>
              <a:rPr lang="en-US" altLang="ko-KR" dirty="0"/>
              <a:t>AST</a:t>
            </a:r>
            <a:r>
              <a:rPr lang="ko-KR" altLang="en-US" dirty="0"/>
              <a:t>를 다듬고</a:t>
            </a:r>
            <a:r>
              <a:rPr lang="en-US" altLang="ko-KR" dirty="0"/>
              <a:t>, </a:t>
            </a:r>
            <a:r>
              <a:rPr lang="ko-KR" altLang="en-US" dirty="0"/>
              <a:t>실제로 실행하며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필요하면 디버깅까지 지원하는 영역입니다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b="1" dirty="0"/>
              <a:t>Optimizer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Optimizer</a:t>
            </a:r>
            <a:r>
              <a:rPr lang="ko-KR" altLang="en-US" dirty="0"/>
              <a:t>는 실행 전에 </a:t>
            </a:r>
            <a:r>
              <a:rPr lang="en-US" altLang="ko-KR" dirty="0"/>
              <a:t>AST</a:t>
            </a:r>
            <a:r>
              <a:rPr lang="ko-KR" altLang="en-US" dirty="0"/>
              <a:t>를 더 효율적인 형태로 바꿉니다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예를 들어 </a:t>
            </a:r>
            <a:r>
              <a:rPr lang="en-US" altLang="ko-KR" dirty="0"/>
              <a:t>1000 % 30</a:t>
            </a:r>
            <a:r>
              <a:rPr lang="ko-KR" altLang="en-US" dirty="0"/>
              <a:t>처럼 결과가 고정된 계산은</a:t>
            </a:r>
            <a:br>
              <a:rPr lang="ko-KR" altLang="en-US" dirty="0"/>
            </a:br>
            <a:r>
              <a:rPr lang="ko-KR" altLang="en-US" dirty="0"/>
              <a:t>실행 전에 미리 </a:t>
            </a:r>
            <a:r>
              <a:rPr lang="en-US" altLang="ko-KR" dirty="0"/>
              <a:t>10</a:t>
            </a:r>
            <a:r>
              <a:rPr lang="ko-KR" altLang="en-US" dirty="0"/>
              <a:t>으로 바꿀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 변수 위치도 미리 계산해서</a:t>
            </a:r>
            <a:br>
              <a:rPr lang="ko-KR" altLang="en-US" dirty="0"/>
            </a:br>
            <a:r>
              <a:rPr lang="ko-KR" altLang="en-US" dirty="0"/>
              <a:t>실행 중 탐색 비용을 줄일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다음은 </a:t>
            </a:r>
            <a:r>
              <a:rPr lang="en-US" altLang="ko-KR" b="1" dirty="0"/>
              <a:t>Executor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Executor</a:t>
            </a:r>
            <a:r>
              <a:rPr lang="ko-KR" altLang="en-US" dirty="0"/>
              <a:t>는 완성된 </a:t>
            </a:r>
            <a:r>
              <a:rPr lang="en-US" altLang="ko-KR" dirty="0"/>
              <a:t>AST</a:t>
            </a:r>
            <a:r>
              <a:rPr lang="ko-KR" altLang="en-US" dirty="0"/>
              <a:t>를 순회하면서 실제 동작을 수행합니다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예를 들어 덧셈 노드를 만나면</a:t>
            </a:r>
            <a:br>
              <a:rPr lang="ko-KR" altLang="en-US" dirty="0"/>
            </a:br>
            <a:r>
              <a:rPr lang="ko-KR" altLang="en-US" dirty="0"/>
              <a:t>왼쪽 값과 오른쪽 값을 계산해 결과를 반환합니다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변수 값은 </a:t>
            </a:r>
            <a:r>
              <a:rPr lang="en-US" altLang="ko-KR" dirty="0"/>
              <a:t>Environment </a:t>
            </a:r>
            <a:r>
              <a:rPr lang="ko-KR" altLang="en-US" dirty="0"/>
              <a:t>체인을 통해 관리합니다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마지막은 </a:t>
            </a:r>
            <a:r>
              <a:rPr lang="en-US" altLang="ko-KR" b="1" dirty="0"/>
              <a:t>Debugger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Debugger</a:t>
            </a:r>
            <a:r>
              <a:rPr lang="ko-KR" altLang="en-US" dirty="0"/>
              <a:t>는 실행을 한 </a:t>
            </a:r>
            <a:r>
              <a:rPr lang="ko-KR" altLang="en-US" dirty="0" err="1"/>
              <a:t>문장씩</a:t>
            </a:r>
            <a:r>
              <a:rPr lang="ko-KR" altLang="en-US" dirty="0"/>
              <a:t> 멈추고 내부 상태를 확인할 수 있게 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break, watch, step, continue, inspect </a:t>
            </a:r>
            <a:r>
              <a:rPr lang="ko-KR" altLang="en-US" dirty="0"/>
              <a:t>같은 명령을 제공합니다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중요한 점은 </a:t>
            </a:r>
            <a:r>
              <a:rPr lang="en-US" altLang="ko-KR" dirty="0"/>
              <a:t>Debugger</a:t>
            </a:r>
            <a:r>
              <a:rPr lang="ko-KR" altLang="en-US" dirty="0"/>
              <a:t>를 위해 </a:t>
            </a:r>
            <a:r>
              <a:rPr lang="en-US" altLang="ko-KR" dirty="0"/>
              <a:t>Executor </a:t>
            </a:r>
            <a:r>
              <a:rPr lang="ko-KR" altLang="en-US" dirty="0"/>
              <a:t>코드를 직접 복잡하게 만들지 않았다는 것입니다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Observer </a:t>
            </a:r>
            <a:r>
              <a:rPr lang="ko-KR" altLang="en-US" dirty="0"/>
              <a:t>훅을 통해 실행 상태를 </a:t>
            </a:r>
            <a:r>
              <a:rPr lang="ko-KR" altLang="en-US" dirty="0" err="1"/>
              <a:t>통지받는</a:t>
            </a:r>
            <a:r>
              <a:rPr lang="ko-KR" altLang="en-US" dirty="0"/>
              <a:t> 구조로 분리했습니다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798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적용한 디자인 패턴을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번째는 </a:t>
            </a:r>
            <a:r>
              <a:rPr lang="en-US" altLang="ko-KR" b="1" dirty="0"/>
              <a:t>Visitor</a:t>
            </a:r>
            <a:r>
              <a:rPr lang="ko-KR" altLang="en-US" dirty="0"/>
              <a:t>와 </a:t>
            </a:r>
            <a:r>
              <a:rPr lang="en-US" altLang="ko-KR" b="1" dirty="0"/>
              <a:t>Strategy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dirty="0"/>
              <a:t>Visitor </a:t>
            </a:r>
            <a:r>
              <a:rPr lang="ko-KR" altLang="en-US" dirty="0"/>
              <a:t>패턴입니다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인터프리터에는 </a:t>
            </a:r>
            <a:r>
              <a:rPr lang="en-US" altLang="ko-KR" dirty="0" err="1"/>
              <a:t>BinaryExpr</a:t>
            </a:r>
            <a:r>
              <a:rPr lang="en-US" altLang="ko-KR" dirty="0"/>
              <a:t>, </a:t>
            </a:r>
            <a:r>
              <a:rPr lang="en-US" altLang="ko-KR" dirty="0" err="1"/>
              <a:t>VariableExpr</a:t>
            </a:r>
            <a:r>
              <a:rPr lang="en-US" altLang="ko-KR" dirty="0"/>
              <a:t>, </a:t>
            </a:r>
            <a:r>
              <a:rPr lang="en-US" altLang="ko-KR" dirty="0" err="1"/>
              <a:t>LiteralExpr</a:t>
            </a:r>
            <a:r>
              <a:rPr lang="ko-KR" altLang="en-US" dirty="0"/>
              <a:t>처럼 여러 </a:t>
            </a:r>
            <a:r>
              <a:rPr lang="en-US" altLang="ko-KR" dirty="0"/>
              <a:t>AST </a:t>
            </a:r>
            <a:r>
              <a:rPr lang="ko-KR" altLang="en-US" dirty="0"/>
              <a:t>노드가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각 노드마다 처리 방식이 다른데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이를 </a:t>
            </a:r>
            <a:r>
              <a:rPr lang="en-US" altLang="ko-KR" dirty="0"/>
              <a:t>if</a:t>
            </a:r>
            <a:r>
              <a:rPr lang="ko-KR" altLang="en-US" dirty="0"/>
              <a:t>나 </a:t>
            </a:r>
            <a:r>
              <a:rPr lang="en-US" altLang="ko-KR" dirty="0" err="1"/>
              <a:t>dynamic_cast</a:t>
            </a:r>
            <a:r>
              <a:rPr lang="ko-KR" altLang="en-US" dirty="0"/>
              <a:t>로 계속 구분하면 코드가 </a:t>
            </a:r>
            <a:r>
              <a:rPr lang="ko-KR" altLang="en-US" dirty="0" err="1"/>
              <a:t>복잡해집니다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각 노드가 </a:t>
            </a:r>
            <a:r>
              <a:rPr lang="en-US" altLang="ko-KR" dirty="0"/>
              <a:t>accept()</a:t>
            </a:r>
            <a:r>
              <a:rPr lang="ko-KR" altLang="en-US" dirty="0"/>
              <a:t>를 통해</a:t>
            </a:r>
            <a:br>
              <a:rPr lang="ko-KR" altLang="en-US" dirty="0"/>
            </a:br>
            <a:r>
              <a:rPr lang="ko-KR" altLang="en-US" dirty="0"/>
              <a:t>자기 타입에 맞는 </a:t>
            </a:r>
            <a:r>
              <a:rPr lang="en-US" altLang="ko-KR" dirty="0" err="1"/>
              <a:t>visitXxxExpr</a:t>
            </a:r>
            <a:r>
              <a:rPr lang="en-US" altLang="ko-KR" dirty="0"/>
              <a:t>()</a:t>
            </a:r>
            <a:r>
              <a:rPr lang="ko-KR" altLang="en-US" dirty="0"/>
              <a:t>를 호출하도록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 </a:t>
            </a:r>
            <a:r>
              <a:rPr lang="en-US" altLang="ko-KR" dirty="0" err="1"/>
              <a:t>BinaryExpr</a:t>
            </a:r>
            <a:r>
              <a:rPr lang="ko-KR" altLang="en-US" dirty="0"/>
              <a:t>는 자기 자신을 </a:t>
            </a:r>
            <a:r>
              <a:rPr lang="en-US" altLang="ko-KR" dirty="0" err="1"/>
              <a:t>visitBinaryExpr</a:t>
            </a:r>
            <a:r>
              <a:rPr lang="en-US" altLang="ko-KR" dirty="0"/>
              <a:t>()</a:t>
            </a:r>
            <a:r>
              <a:rPr lang="ko-KR" altLang="en-US" dirty="0"/>
              <a:t>로 넘깁니다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구조 덕분에 </a:t>
            </a:r>
            <a:r>
              <a:rPr lang="en-US" altLang="ko-KR" dirty="0"/>
              <a:t>Executor</a:t>
            </a:r>
            <a:r>
              <a:rPr lang="ko-KR" altLang="en-US" dirty="0"/>
              <a:t>나 </a:t>
            </a:r>
            <a:r>
              <a:rPr lang="en-US" altLang="ko-KR" dirty="0"/>
              <a:t>Checker</a:t>
            </a:r>
            <a:r>
              <a:rPr lang="ko-KR" altLang="en-US" dirty="0"/>
              <a:t>처럼</a:t>
            </a:r>
            <a:br>
              <a:rPr lang="ko-KR" altLang="en-US" dirty="0"/>
            </a:br>
            <a:r>
              <a:rPr lang="en-US" altLang="ko-KR" dirty="0"/>
              <a:t>AST</a:t>
            </a:r>
            <a:r>
              <a:rPr lang="ko-KR" altLang="en-US" dirty="0"/>
              <a:t>를 순회하는 기능을 깔끔하게 분리할 수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다음은 </a:t>
            </a:r>
            <a:r>
              <a:rPr lang="en-US" altLang="ko-KR" dirty="0"/>
              <a:t>Strategy </a:t>
            </a:r>
            <a:r>
              <a:rPr lang="ko-KR" altLang="en-US" dirty="0"/>
              <a:t>패턴입니다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최적화 알고리즘은 상황에 따라 바뀔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Static Binding</a:t>
            </a:r>
            <a:r>
              <a:rPr lang="ko-KR" altLang="en-US" dirty="0"/>
              <a:t>을 적용할 수도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Constant Folding</a:t>
            </a:r>
            <a:r>
              <a:rPr lang="ko-KR" altLang="en-US" dirty="0"/>
              <a:t>을 적용할 수도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최적화를 끌 수도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 err="1"/>
              <a:t>IOptimizer</a:t>
            </a:r>
            <a:r>
              <a:rPr lang="en-US" altLang="ko-KR" dirty="0"/>
              <a:t> </a:t>
            </a:r>
            <a:r>
              <a:rPr lang="ko-KR" altLang="en-US" dirty="0"/>
              <a:t>인터페이스를 만들고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각 최적화가 이 인터페이스를 구현하도록 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Shell</a:t>
            </a:r>
            <a:r>
              <a:rPr lang="ko-KR" altLang="en-US" dirty="0"/>
              <a:t>은 구체 클래스가 아니라 </a:t>
            </a:r>
            <a:r>
              <a:rPr lang="en-US" altLang="ko-KR" dirty="0" err="1"/>
              <a:t>IOptimizer</a:t>
            </a:r>
            <a:r>
              <a:rPr lang="en-US" altLang="ko-KR" dirty="0"/>
              <a:t> </a:t>
            </a:r>
            <a:r>
              <a:rPr lang="ko-KR" altLang="en-US" dirty="0"/>
              <a:t>인터페이스만 사용합니다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39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b="1" dirty="0"/>
              <a:t>Chain of Responsibility</a:t>
            </a:r>
            <a:r>
              <a:rPr lang="ko-KR" altLang="en-US" dirty="0"/>
              <a:t>와 </a:t>
            </a:r>
            <a:r>
              <a:rPr lang="en-US" altLang="ko-KR" b="1" dirty="0"/>
              <a:t>Observer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dirty="0"/>
              <a:t>Chain of Responsibility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최적화는 한 단계만 적용되는 것이 아니라</a:t>
            </a:r>
            <a:br>
              <a:rPr lang="ko-KR" altLang="en-US" dirty="0"/>
            </a:br>
            <a:r>
              <a:rPr lang="ko-KR" altLang="en-US" dirty="0"/>
              <a:t>여러 단계를 순서대로 적용할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코드에서는 </a:t>
            </a:r>
            <a:r>
              <a:rPr lang="en-US" altLang="ko-KR" dirty="0"/>
              <a:t>optimizers_ </a:t>
            </a:r>
            <a:r>
              <a:rPr lang="ko-KR" altLang="en-US" dirty="0"/>
              <a:t>벡터를 순회하면서</a:t>
            </a:r>
            <a:br>
              <a:rPr lang="ko-KR" altLang="en-US" dirty="0"/>
            </a:br>
            <a:r>
              <a:rPr lang="ko-KR" altLang="en-US" dirty="0"/>
              <a:t>등록된 순서대로 </a:t>
            </a:r>
            <a:r>
              <a:rPr lang="en-US" altLang="ko-KR" dirty="0"/>
              <a:t>optimize()</a:t>
            </a:r>
            <a:r>
              <a:rPr lang="ko-KR" altLang="en-US" dirty="0"/>
              <a:t>를 호출합니다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</a:t>
            </a:r>
            <a:r>
              <a:rPr lang="en-US" altLang="ko-KR" dirty="0"/>
              <a:t>Optimizer</a:t>
            </a:r>
            <a:r>
              <a:rPr lang="ko-KR" altLang="en-US" dirty="0"/>
              <a:t>가 </a:t>
            </a:r>
            <a:r>
              <a:rPr lang="en-US" altLang="ko-KR" dirty="0"/>
              <a:t>AST</a:t>
            </a:r>
            <a:r>
              <a:rPr lang="ko-KR" altLang="en-US" dirty="0"/>
              <a:t>를 처리하고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결과를 다음 </a:t>
            </a:r>
            <a:r>
              <a:rPr lang="en-US" altLang="ko-KR" dirty="0"/>
              <a:t>Optimizer</a:t>
            </a:r>
            <a:r>
              <a:rPr lang="ko-KR" altLang="en-US" dirty="0"/>
              <a:t>가 이어받는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구조 덕분에 새로운 최적화가 필요할 때</a:t>
            </a:r>
            <a:br>
              <a:rPr lang="ko-KR" altLang="en-US" dirty="0"/>
            </a:br>
            <a:r>
              <a:rPr lang="ko-KR" altLang="en-US" dirty="0"/>
              <a:t>기존 코드를 크게 바꾸지 않고 </a:t>
            </a:r>
            <a:r>
              <a:rPr lang="en-US" altLang="ko-KR" dirty="0"/>
              <a:t>Optimizer</a:t>
            </a:r>
            <a:r>
              <a:rPr lang="ko-KR" altLang="en-US" dirty="0"/>
              <a:t>만 추가하면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다음은 </a:t>
            </a:r>
            <a:r>
              <a:rPr lang="en-US" altLang="ko-KR" dirty="0"/>
              <a:t>Observer </a:t>
            </a:r>
            <a:r>
              <a:rPr lang="ko-KR" altLang="en-US" dirty="0"/>
              <a:t>패턴입니다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디버거는</a:t>
            </a:r>
            <a:r>
              <a:rPr lang="ko-KR" altLang="en-US" dirty="0"/>
              <a:t> </a:t>
            </a:r>
            <a:r>
              <a:rPr lang="en-US" altLang="ko-KR" dirty="0"/>
              <a:t>Executor</a:t>
            </a:r>
            <a:r>
              <a:rPr lang="ko-KR" altLang="en-US" dirty="0"/>
              <a:t>의 실행 과정을 관찰해야 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하지만 디버그 로직이 </a:t>
            </a:r>
            <a:r>
              <a:rPr lang="en-US" altLang="ko-KR" dirty="0"/>
              <a:t>Executor </a:t>
            </a:r>
            <a:r>
              <a:rPr lang="ko-KR" altLang="en-US" dirty="0"/>
              <a:t>내부에 직접 섞이면 실행 코드가 </a:t>
            </a:r>
            <a:r>
              <a:rPr lang="ko-KR" altLang="en-US" dirty="0" err="1"/>
              <a:t>복잡해집니다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 err="1"/>
              <a:t>DebugObserver</a:t>
            </a:r>
            <a:r>
              <a:rPr lang="en-US" altLang="ko-KR" dirty="0"/>
              <a:t> </a:t>
            </a:r>
            <a:r>
              <a:rPr lang="ko-KR" altLang="en-US" dirty="0"/>
              <a:t>인터페이스를 두고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Executor</a:t>
            </a:r>
            <a:r>
              <a:rPr lang="ko-KR" altLang="en-US" dirty="0"/>
              <a:t>가 매 문장 실행 전에 </a:t>
            </a:r>
            <a:r>
              <a:rPr lang="en-US" altLang="ko-KR" dirty="0"/>
              <a:t>Observer</a:t>
            </a:r>
            <a:r>
              <a:rPr lang="ko-KR" altLang="en-US" dirty="0"/>
              <a:t>에게 알려주는 구조로 만들었습니다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Debugger</a:t>
            </a:r>
            <a:r>
              <a:rPr lang="ko-KR" altLang="en-US" dirty="0"/>
              <a:t>는 이 알림을 받아</a:t>
            </a:r>
            <a:br>
              <a:rPr lang="ko-KR" altLang="en-US" dirty="0"/>
            </a:br>
            <a:r>
              <a:rPr lang="en-US" altLang="ko-KR" dirty="0"/>
              <a:t>break, watch, step </a:t>
            </a:r>
            <a:r>
              <a:rPr lang="ko-KR" altLang="en-US" dirty="0"/>
              <a:t>같은 기능을 수행합니다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703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다음은 </a:t>
            </a:r>
            <a:r>
              <a:rPr lang="en-US" altLang="ko-KR" b="1" dirty="0"/>
              <a:t>RAII</a:t>
            </a:r>
            <a:r>
              <a:rPr lang="ko-KR" altLang="en-US" dirty="0"/>
              <a:t>와 </a:t>
            </a:r>
            <a:r>
              <a:rPr lang="en-US" altLang="ko-KR" b="1" dirty="0"/>
              <a:t>Dependency Injection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dirty="0"/>
              <a:t>RAII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RAII</a:t>
            </a:r>
            <a:r>
              <a:rPr lang="ko-KR" altLang="en-US" dirty="0"/>
              <a:t>는 </a:t>
            </a:r>
            <a:r>
              <a:rPr lang="en-US" altLang="ko-KR" dirty="0"/>
              <a:t>C++</a:t>
            </a:r>
            <a:r>
              <a:rPr lang="ko-KR" altLang="en-US" dirty="0"/>
              <a:t>에서 자원을 안전하게 관리하는 대표적인 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프로젝트에서는 </a:t>
            </a:r>
            <a:r>
              <a:rPr lang="ko-KR" altLang="en-US" dirty="0" err="1"/>
              <a:t>스코프</a:t>
            </a:r>
            <a:r>
              <a:rPr lang="ko-KR" altLang="en-US" dirty="0"/>
              <a:t> 환경 복원에 사용했습니다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인터프리터가 함수나 블록에 들어가면</a:t>
            </a:r>
            <a:br>
              <a:rPr lang="ko-KR" altLang="en-US" dirty="0"/>
            </a:br>
            <a:r>
              <a:rPr lang="ko-KR" altLang="en-US" dirty="0"/>
              <a:t>현재 </a:t>
            </a:r>
            <a:r>
              <a:rPr lang="en-US" altLang="ko-KR" dirty="0"/>
              <a:t>Environment</a:t>
            </a:r>
            <a:r>
              <a:rPr lang="ko-KR" altLang="en-US" dirty="0"/>
              <a:t>가 새 </a:t>
            </a:r>
            <a:r>
              <a:rPr lang="en-US" altLang="ko-KR" dirty="0"/>
              <a:t>Environment</a:t>
            </a:r>
            <a:r>
              <a:rPr lang="ko-KR" altLang="en-US" dirty="0"/>
              <a:t>로 바뀝니다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블록을 빠져나오면</a:t>
            </a:r>
            <a:br>
              <a:rPr lang="ko-KR" altLang="en-US" dirty="0"/>
            </a:br>
            <a:r>
              <a:rPr lang="ko-KR" altLang="en-US" dirty="0"/>
              <a:t>이전 </a:t>
            </a:r>
            <a:r>
              <a:rPr lang="en-US" altLang="ko-KR" dirty="0"/>
              <a:t>Environment</a:t>
            </a:r>
            <a:r>
              <a:rPr lang="ko-KR" altLang="en-US" dirty="0"/>
              <a:t>로 반드시 돌아와야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문제는 중간에 예외가 발생하는 경우입니다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수동으로 복원 코드를 호출하는 방식이면</a:t>
            </a:r>
            <a:br>
              <a:rPr lang="ko-KR" altLang="en-US" dirty="0"/>
            </a:br>
            <a:r>
              <a:rPr lang="ko-KR" altLang="en-US" dirty="0"/>
              <a:t>예외 때문에 복원이 누락될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 err="1"/>
              <a:t>ScopeGuard</a:t>
            </a:r>
            <a:r>
              <a:rPr lang="ko-KR" altLang="en-US" dirty="0"/>
              <a:t>를 만들었습니다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ScopeGuard</a:t>
            </a:r>
            <a:r>
              <a:rPr lang="ko-KR" altLang="en-US" dirty="0"/>
              <a:t>는 생성될 때 이전 환경을 저장하고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소멸자에서 자동으로 원래 환경을 복원합니다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C++</a:t>
            </a:r>
            <a:r>
              <a:rPr lang="ko-KR" altLang="en-US" dirty="0"/>
              <a:t>에서는 예외가 발생해도 지역 객체의 소멸자가 호출되기 때문에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예외 상황에서도 환경이 안전하게 복구됩니다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다음은 </a:t>
            </a:r>
            <a:r>
              <a:rPr lang="en-US" altLang="ko-KR" dirty="0"/>
              <a:t>Dependency Injection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Shell</a:t>
            </a:r>
            <a:r>
              <a:rPr lang="ko-KR" altLang="en-US" dirty="0"/>
              <a:t>은 </a:t>
            </a:r>
            <a:r>
              <a:rPr lang="en-US" altLang="ko-KR" dirty="0"/>
              <a:t>Tokenizer, Parser, Checker, Executor</a:t>
            </a:r>
            <a:r>
              <a:rPr lang="ko-KR" altLang="en-US" dirty="0"/>
              <a:t>를 사용합니다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그런데 </a:t>
            </a:r>
            <a:r>
              <a:rPr lang="en-US" altLang="ko-KR" dirty="0"/>
              <a:t>Shell</a:t>
            </a:r>
            <a:r>
              <a:rPr lang="ko-KR" altLang="en-US" dirty="0"/>
              <a:t>이 이 객체들을 직접 생성하면</a:t>
            </a:r>
            <a:br>
              <a:rPr lang="ko-KR" altLang="en-US" dirty="0"/>
            </a:br>
            <a:r>
              <a:rPr lang="ko-KR" altLang="en-US" dirty="0"/>
              <a:t>테스트할 때 </a:t>
            </a:r>
            <a:r>
              <a:rPr lang="en-US" altLang="ko-KR" dirty="0"/>
              <a:t>Mock </a:t>
            </a:r>
            <a:r>
              <a:rPr lang="ko-KR" altLang="en-US" dirty="0"/>
              <a:t>객체로 바꾸기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생성자를 통해 인터페이스를 </a:t>
            </a:r>
            <a:r>
              <a:rPr lang="ko-KR" altLang="en-US" dirty="0" err="1"/>
              <a:t>주입받도록</a:t>
            </a:r>
            <a:r>
              <a:rPr lang="ko-KR" altLang="en-US" dirty="0"/>
              <a:t>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 실행에서는 실제 구현체를 넣고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테스트에서는 </a:t>
            </a:r>
            <a:r>
              <a:rPr lang="en-US" altLang="ko-KR" dirty="0"/>
              <a:t>Mock </a:t>
            </a:r>
            <a:r>
              <a:rPr lang="ko-KR" altLang="en-US" dirty="0"/>
              <a:t>객체를 넣을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604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기능 구현과 설계 구조를 </a:t>
            </a:r>
            <a:r>
              <a:rPr lang="ko-KR" altLang="en-US" dirty="0" err="1"/>
              <a:t>설명드렸습니다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이제부터는 프로젝트 과정에서 적용한</a:t>
            </a:r>
            <a:br>
              <a:rPr lang="ko-KR" altLang="en-US" dirty="0"/>
            </a:br>
            <a:r>
              <a:rPr lang="en-US" altLang="ko-KR" dirty="0"/>
              <a:t>Best Practice </a:t>
            </a:r>
            <a:r>
              <a:rPr lang="ko-KR" altLang="en-US" dirty="0"/>
              <a:t>사례를 말씀드리겠습니다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643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그래프는 </a:t>
            </a:r>
            <a:r>
              <a:rPr lang="en-US" altLang="ko-KR" dirty="0"/>
              <a:t>PR</a:t>
            </a:r>
            <a:r>
              <a:rPr lang="ko-KR" altLang="en-US" dirty="0"/>
              <a:t>이 진행되면서 테스트 케이스가 어떻게 증가했는지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초기에는 테스트가 </a:t>
            </a:r>
            <a:r>
              <a:rPr lang="en-US" altLang="ko-KR" dirty="0"/>
              <a:t>31</a:t>
            </a:r>
            <a:r>
              <a:rPr lang="ko-KR" altLang="en-US" dirty="0"/>
              <a:t>개였습니다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기능을 추가할 때마다</a:t>
            </a:r>
            <a:br>
              <a:rPr lang="ko-KR" altLang="en-US" dirty="0"/>
            </a:br>
            <a:r>
              <a:rPr lang="ko-KR" altLang="en-US" dirty="0"/>
              <a:t>관련 테스트도 함께 작성했습니다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최종적으로는 </a:t>
            </a:r>
            <a:r>
              <a:rPr lang="en-US" altLang="ko-KR" dirty="0"/>
              <a:t>396</a:t>
            </a:r>
            <a:r>
              <a:rPr lang="ko-KR" altLang="en-US" dirty="0"/>
              <a:t>개의 테스트 케이스까지 증가했습니다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그래프를 통해 저희가 테스트를 마지막에 몰아서 작성한 것이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개발 과정 전체에서 계속 쌓아갔다는 점을 확인 할 수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17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그래프는 </a:t>
            </a:r>
            <a:r>
              <a:rPr lang="en-US" altLang="ko-KR" dirty="0" err="1"/>
              <a:t>OpenCppCoverage</a:t>
            </a:r>
            <a:r>
              <a:rPr lang="ko-KR" altLang="en-US" dirty="0"/>
              <a:t>로 측정한 라인 </a:t>
            </a:r>
            <a:r>
              <a:rPr lang="ko-KR" altLang="en-US" dirty="0" err="1"/>
              <a:t>커버리지입니다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초기 커버리지는 </a:t>
            </a:r>
            <a:r>
              <a:rPr lang="en-US" altLang="ko-KR" dirty="0"/>
              <a:t>6.6%</a:t>
            </a:r>
            <a:r>
              <a:rPr lang="ko-KR" altLang="en-US" dirty="0"/>
              <a:t>였습니다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TDD </a:t>
            </a:r>
            <a:r>
              <a:rPr lang="ko-KR" altLang="en-US" dirty="0"/>
              <a:t>기반으로 주요 기능을 구현하면서</a:t>
            </a:r>
            <a:br>
              <a:rPr lang="ko-KR" altLang="en-US" dirty="0"/>
            </a:br>
            <a:r>
              <a:rPr lang="ko-KR" altLang="en-US" dirty="0"/>
              <a:t>커버리지가 </a:t>
            </a:r>
            <a:r>
              <a:rPr lang="en-US" altLang="ko-KR" dirty="0"/>
              <a:t>76.5%</a:t>
            </a:r>
            <a:r>
              <a:rPr lang="ko-KR" altLang="en-US" dirty="0"/>
              <a:t>까지 상승했습니다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새 기능이 추가될 때마다</a:t>
            </a:r>
            <a:br>
              <a:rPr lang="ko-KR" altLang="en-US" dirty="0"/>
            </a:br>
            <a:r>
              <a:rPr lang="ko-KR" altLang="en-US" dirty="0"/>
              <a:t>테스트되지 않은 코드가 생기면서 커버리지가 잠깐 떨어졌지만</a:t>
            </a:r>
            <a:r>
              <a:rPr lang="en-US" altLang="ko-KR" dirty="0"/>
              <a:t> </a:t>
            </a:r>
            <a:r>
              <a:rPr lang="ko-KR" altLang="en-US" dirty="0"/>
              <a:t>테스트 </a:t>
            </a:r>
            <a:r>
              <a:rPr lang="en-US" altLang="ko-KR" dirty="0"/>
              <a:t>PR</a:t>
            </a:r>
            <a:r>
              <a:rPr lang="ko-KR" altLang="en-US" dirty="0"/>
              <a:t>을 통해 다시 회복했습니다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그래프가 톱니 모양으로 보이는 이유는</a:t>
            </a:r>
            <a:br>
              <a:rPr lang="ko-KR" altLang="en-US" dirty="0"/>
            </a:br>
            <a:r>
              <a:rPr lang="ko-KR" altLang="en-US" b="1" dirty="0"/>
              <a:t>기능 추가 → 커버리지 하락 → 테스트 보강 → 회복</a:t>
            </a:r>
            <a:br>
              <a:rPr lang="ko-KR" altLang="en-US" dirty="0"/>
            </a:br>
            <a:r>
              <a:rPr lang="ko-KR" altLang="en-US" dirty="0"/>
              <a:t>흐름이 반복됐기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최종 커버리지는 </a:t>
            </a:r>
            <a:r>
              <a:rPr lang="en-US" altLang="ko-KR" dirty="0"/>
              <a:t>93.1%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통해 기능과 테스트가 함께 성장한 프로젝트였음을 알 수 있었습니다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070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</a:t>
            </a:r>
            <a:r>
              <a:rPr lang="en-US" altLang="ko-KR" dirty="0"/>
              <a:t>Best Practice</a:t>
            </a:r>
            <a:r>
              <a:rPr lang="ko-KR" altLang="en-US" dirty="0"/>
              <a:t>는 </a:t>
            </a:r>
            <a:r>
              <a:rPr lang="en-US" altLang="ko-KR" dirty="0"/>
              <a:t>TDD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TDD</a:t>
            </a:r>
            <a:r>
              <a:rPr lang="ko-KR" altLang="en-US" dirty="0"/>
              <a:t>는 세 단계로 진행했습니다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b="1" dirty="0"/>
              <a:t>RED</a:t>
            </a:r>
            <a:r>
              <a:rPr lang="ko-KR" altLang="en-US" dirty="0"/>
              <a:t> 단계입니다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실패하는 테스트를 먼저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아직 구현이 없기 때문에 이 테스트는 실패합니다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다음은 </a:t>
            </a:r>
            <a:r>
              <a:rPr lang="en-US" altLang="ko-KR" b="1" dirty="0"/>
              <a:t>GREEN</a:t>
            </a:r>
            <a:r>
              <a:rPr lang="ko-KR" altLang="en-US" dirty="0"/>
              <a:t> 단계입니다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테스트를 통과시키기 위한 최소 구현을 작성합니다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마지막은 </a:t>
            </a:r>
            <a:r>
              <a:rPr lang="en-US" altLang="ko-KR" b="1" dirty="0"/>
              <a:t>REFACTOR</a:t>
            </a:r>
            <a:r>
              <a:rPr lang="ko-KR" altLang="en-US" dirty="0"/>
              <a:t> 단계입니다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테스트가 통과하는 상태를 유지하면서</a:t>
            </a:r>
            <a:br>
              <a:rPr lang="ko-KR" altLang="en-US" dirty="0"/>
            </a:br>
            <a:r>
              <a:rPr lang="ko-KR" altLang="en-US" dirty="0"/>
              <a:t>중복을 제거하고 구조를 개선합니다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Parser</a:t>
            </a:r>
            <a:r>
              <a:rPr lang="ko-KR" altLang="en-US" dirty="0"/>
              <a:t>를 </a:t>
            </a:r>
            <a:r>
              <a:rPr lang="ko-KR" altLang="en-US" dirty="0" err="1"/>
              <a:t>예로들면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Parser </a:t>
            </a:r>
            <a:r>
              <a:rPr lang="ko-KR" altLang="en-US" dirty="0"/>
              <a:t>테스트 </a:t>
            </a:r>
            <a:r>
              <a:rPr lang="en-US" altLang="ko-KR" dirty="0"/>
              <a:t>32</a:t>
            </a:r>
            <a:r>
              <a:rPr lang="ko-KR" altLang="en-US" dirty="0"/>
              <a:t>개를 작성했습니다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그다음</a:t>
            </a:r>
            <a:r>
              <a:rPr lang="ko-KR" altLang="en-US" dirty="0"/>
              <a:t> 재귀 하강 </a:t>
            </a:r>
            <a:r>
              <a:rPr lang="ko-KR" altLang="en-US" dirty="0" err="1"/>
              <a:t>파서를</a:t>
            </a:r>
            <a:r>
              <a:rPr lang="ko-KR" altLang="en-US" dirty="0"/>
              <a:t> 구현해서 테스트를 통과시켰습니다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</a:t>
            </a:r>
            <a:r>
              <a:rPr lang="en-US" altLang="ko-KR" dirty="0" err="1"/>
              <a:t>parseBinaryLeft</a:t>
            </a:r>
            <a:r>
              <a:rPr lang="en-US" altLang="ko-KR" dirty="0"/>
              <a:t>() </a:t>
            </a:r>
            <a:r>
              <a:rPr lang="ko-KR" altLang="en-US" dirty="0" err="1"/>
              <a:t>헬퍼를</a:t>
            </a:r>
            <a:r>
              <a:rPr lang="ko-KR" altLang="en-US" dirty="0"/>
              <a:t> 만들어</a:t>
            </a:r>
            <a:br>
              <a:rPr lang="ko-KR" altLang="en-US" dirty="0"/>
            </a:br>
            <a:r>
              <a:rPr lang="ko-KR" altLang="en-US" dirty="0"/>
              <a:t>반복되던 파싱 로직을 정리했습니다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사이클은 </a:t>
            </a:r>
            <a:r>
              <a:rPr lang="en-US" altLang="ko-KR" dirty="0"/>
              <a:t>Parser</a:t>
            </a:r>
            <a:r>
              <a:rPr lang="ko-KR" altLang="en-US" dirty="0"/>
              <a:t>뿐만 아니라</a:t>
            </a:r>
            <a:br>
              <a:rPr lang="ko-KR" altLang="en-US" dirty="0"/>
            </a:br>
            <a:r>
              <a:rPr lang="en-US" altLang="ko-KR" dirty="0"/>
              <a:t>Tokenizer, Checker, Executor </a:t>
            </a:r>
            <a:r>
              <a:rPr lang="ko-KR" altLang="en-US" dirty="0"/>
              <a:t>전체에 적용했습니다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최종 </a:t>
            </a:r>
            <a:r>
              <a:rPr lang="en-US" altLang="ko-KR" dirty="0"/>
              <a:t>396</a:t>
            </a:r>
            <a:r>
              <a:rPr lang="ko-KR" altLang="en-US" dirty="0"/>
              <a:t>개 테스트 케이스와</a:t>
            </a:r>
            <a:br>
              <a:rPr lang="ko-KR" altLang="en-US" dirty="0"/>
            </a:br>
            <a:r>
              <a:rPr lang="en-US" altLang="ko-KR" dirty="0"/>
              <a:t>93.1% </a:t>
            </a:r>
            <a:r>
              <a:rPr lang="ko-KR" altLang="en-US" dirty="0"/>
              <a:t>커버리지를 확보했습니다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TDD </a:t>
            </a:r>
            <a:r>
              <a:rPr lang="ko-KR" altLang="en-US" dirty="0"/>
              <a:t>덕분에 </a:t>
            </a:r>
            <a:r>
              <a:rPr lang="ko-KR" altLang="en-US" dirty="0" err="1"/>
              <a:t>리팩터링할</a:t>
            </a:r>
            <a:r>
              <a:rPr lang="ko-KR" altLang="en-US" dirty="0"/>
              <a:t> 때 많은 버그를 예방할 수 있었습니다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230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슬라이드는 </a:t>
            </a:r>
            <a:r>
              <a:rPr lang="en-US" altLang="ko-KR" dirty="0"/>
              <a:t>Checker</a:t>
            </a:r>
            <a:r>
              <a:rPr lang="ko-KR" altLang="en-US" dirty="0"/>
              <a:t>를 </a:t>
            </a:r>
            <a:r>
              <a:rPr lang="en-US" altLang="ko-KR" dirty="0"/>
              <a:t>Visitor </a:t>
            </a:r>
            <a:r>
              <a:rPr lang="ko-KR" altLang="en-US" dirty="0"/>
              <a:t>패턴으로 개선한 사례입니다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 전에는 </a:t>
            </a:r>
            <a:r>
              <a:rPr lang="en-US" altLang="ko-KR" dirty="0" err="1"/>
              <a:t>checkExpr</a:t>
            </a:r>
            <a:r>
              <a:rPr lang="en-US" altLang="ko-KR" dirty="0"/>
              <a:t>() </a:t>
            </a:r>
            <a:r>
              <a:rPr lang="ko-KR" altLang="en-US" dirty="0"/>
              <a:t>안에서</a:t>
            </a:r>
            <a:br>
              <a:rPr lang="ko-KR" altLang="en-US" dirty="0"/>
            </a:br>
            <a:r>
              <a:rPr lang="en-US" altLang="ko-KR" dirty="0" err="1"/>
              <a:t>dynamic_cast</a:t>
            </a:r>
            <a:r>
              <a:rPr lang="ko-KR" altLang="en-US" dirty="0"/>
              <a:t>로 노드 타입을 하나씩 확인했습니다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 </a:t>
            </a:r>
            <a:r>
              <a:rPr lang="en-US" altLang="ko-KR" dirty="0" err="1"/>
              <a:t>VariableExpr</a:t>
            </a:r>
            <a:r>
              <a:rPr lang="ko-KR" altLang="en-US" dirty="0"/>
              <a:t>인지</a:t>
            </a:r>
            <a:r>
              <a:rPr lang="en-US" altLang="ko-KR" dirty="0"/>
              <a:t>, </a:t>
            </a:r>
            <a:r>
              <a:rPr lang="en-US" altLang="ko-KR" dirty="0" err="1"/>
              <a:t>BinaryExpr</a:t>
            </a:r>
            <a:r>
              <a:rPr lang="ko-KR" altLang="en-US" dirty="0"/>
              <a:t>인지 확인하고</a:t>
            </a:r>
            <a:br>
              <a:rPr lang="ko-KR" altLang="en-US" dirty="0"/>
            </a:br>
            <a:r>
              <a:rPr lang="ko-KR" altLang="en-US" dirty="0"/>
              <a:t>각 타입에 맞게 처리하는 방식이었습니다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문제는 새 노드가 추가될 때마다</a:t>
            </a:r>
            <a:br>
              <a:rPr lang="ko-KR" altLang="en-US" dirty="0"/>
            </a:br>
            <a:r>
              <a:rPr lang="ko-KR" altLang="en-US" dirty="0"/>
              <a:t>이 함수의 분기문을 계속 수정해야 한다는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기존 코드를 자주 수정해야 하므로</a:t>
            </a:r>
            <a:br>
              <a:rPr lang="ko-KR" altLang="en-US" dirty="0"/>
            </a:br>
            <a:r>
              <a:rPr lang="en-US" altLang="ko-KR" dirty="0"/>
              <a:t>OCP, </a:t>
            </a:r>
            <a:r>
              <a:rPr lang="ko-KR" altLang="en-US" dirty="0"/>
              <a:t>개방</a:t>
            </a:r>
            <a:r>
              <a:rPr lang="en-US" altLang="ko-KR" dirty="0"/>
              <a:t>-</a:t>
            </a:r>
            <a:r>
              <a:rPr lang="ko-KR" altLang="en-US" dirty="0"/>
              <a:t>폐쇄 원칙에 맞지 않았습니다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 후에는 </a:t>
            </a:r>
            <a:r>
              <a:rPr lang="en-US" altLang="ko-KR" dirty="0"/>
              <a:t>Visitor </a:t>
            </a:r>
            <a:r>
              <a:rPr lang="ko-KR" altLang="en-US" dirty="0"/>
              <a:t>패턴을 적용했습니다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노드가 </a:t>
            </a:r>
            <a:r>
              <a:rPr lang="en-US" altLang="ko-KR" dirty="0"/>
              <a:t>accept()</a:t>
            </a:r>
            <a:r>
              <a:rPr lang="ko-KR" altLang="en-US" dirty="0"/>
              <a:t>를 호출하면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자기 타입에 맞는 </a:t>
            </a:r>
            <a:r>
              <a:rPr lang="en-US" altLang="ko-KR" dirty="0" err="1"/>
              <a:t>visitVariableExpr</a:t>
            </a:r>
            <a:r>
              <a:rPr lang="en-US" altLang="ko-KR" dirty="0"/>
              <a:t>(), </a:t>
            </a:r>
            <a:r>
              <a:rPr lang="en-US" altLang="ko-KR" dirty="0" err="1"/>
              <a:t>visitBinaryExpr</a:t>
            </a:r>
            <a:r>
              <a:rPr lang="en-US" altLang="ko-KR" dirty="0"/>
              <a:t>()</a:t>
            </a:r>
            <a:r>
              <a:rPr lang="ko-KR" altLang="en-US" dirty="0"/>
              <a:t>가 실행됩니다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바꾸면 새 노드가 추가되어도</a:t>
            </a:r>
            <a:br>
              <a:rPr lang="ko-KR" altLang="en-US" dirty="0"/>
            </a:br>
            <a:r>
              <a:rPr lang="ko-KR" altLang="en-US" dirty="0"/>
              <a:t>큰 분기문을 고치는 대신</a:t>
            </a:r>
            <a:br>
              <a:rPr lang="ko-KR" altLang="en-US" dirty="0"/>
            </a:br>
            <a:r>
              <a:rPr lang="ko-KR" altLang="en-US" dirty="0"/>
              <a:t>해당 </a:t>
            </a:r>
            <a:r>
              <a:rPr lang="en-US" altLang="ko-KR" dirty="0"/>
              <a:t>visit </a:t>
            </a:r>
            <a:r>
              <a:rPr lang="ko-KR" altLang="en-US" dirty="0"/>
              <a:t>메서드만 추가하면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</a:t>
            </a:r>
            <a:r>
              <a:rPr lang="en-US" altLang="ko-KR" dirty="0" err="1"/>
              <a:t>dynamic_cast</a:t>
            </a:r>
            <a:r>
              <a:rPr lang="en-US" altLang="ko-KR" dirty="0"/>
              <a:t> 7</a:t>
            </a:r>
            <a:r>
              <a:rPr lang="ko-KR" altLang="en-US" dirty="0"/>
              <a:t>회를 제거했고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기존 테스트도 모두 통과했습니다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핵심은</a:t>
            </a:r>
            <a:br>
              <a:rPr lang="ko-KR" altLang="en-US" dirty="0"/>
            </a:br>
            <a:r>
              <a:rPr lang="ko-KR" altLang="en-US" b="1" dirty="0"/>
              <a:t>타입 분기 중심 코드를 </a:t>
            </a:r>
            <a:r>
              <a:rPr lang="ko-KR" altLang="en-US" b="1" dirty="0" err="1"/>
              <a:t>노드별</a:t>
            </a:r>
            <a:r>
              <a:rPr lang="ko-KR" altLang="en-US" b="1" dirty="0"/>
              <a:t> 방문 구조로 바꿔 확장성을 높인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140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번째 </a:t>
            </a:r>
            <a:r>
              <a:rPr lang="en-US" altLang="ko-KR" dirty="0"/>
              <a:t>Best Practice</a:t>
            </a:r>
            <a:r>
              <a:rPr lang="ko-KR" altLang="en-US" dirty="0"/>
              <a:t>는 </a:t>
            </a:r>
            <a:r>
              <a:rPr lang="en-US" altLang="ko-KR" dirty="0"/>
              <a:t>Code Review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이번 사례는 </a:t>
            </a:r>
            <a:r>
              <a:rPr lang="en-US" altLang="ko-KR" dirty="0"/>
              <a:t>PR #32</a:t>
            </a:r>
            <a:r>
              <a:rPr lang="ko-KR" altLang="en-US" dirty="0"/>
              <a:t>에서 발견한</a:t>
            </a:r>
            <a:br>
              <a:rPr lang="ko-KR" altLang="en-US" dirty="0"/>
            </a:br>
            <a:r>
              <a:rPr lang="en-US" altLang="ko-KR" dirty="0"/>
              <a:t>Dangling Pointer </a:t>
            </a:r>
            <a:r>
              <a:rPr lang="ko-KR" altLang="en-US" dirty="0"/>
              <a:t>문제입니다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문제는 </a:t>
            </a:r>
            <a:r>
              <a:rPr lang="en-US" altLang="ko-KR" dirty="0"/>
              <a:t>optimize() </a:t>
            </a:r>
            <a:r>
              <a:rPr lang="ko-KR" altLang="en-US" dirty="0"/>
              <a:t>함수가</a:t>
            </a:r>
            <a:br>
              <a:rPr lang="ko-KR" altLang="en-US" dirty="0"/>
            </a:br>
            <a:r>
              <a:rPr lang="ko-KR" altLang="en-US" dirty="0"/>
              <a:t>최적화된 </a:t>
            </a:r>
            <a:r>
              <a:rPr lang="en-US" altLang="ko-KR" dirty="0"/>
              <a:t>AST</a:t>
            </a:r>
            <a:r>
              <a:rPr lang="ko-KR" altLang="en-US" dirty="0"/>
              <a:t>를 </a:t>
            </a:r>
            <a:r>
              <a:rPr lang="en-US" altLang="ko-KR" dirty="0"/>
              <a:t>vector</a:t>
            </a:r>
            <a:r>
              <a:rPr lang="ko-KR" altLang="en-US" dirty="0"/>
              <a:t>로 반환하는데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</a:t>
            </a:r>
            <a:r>
              <a:rPr lang="ko-KR" altLang="en-US" dirty="0" err="1"/>
              <a:t>반환값을</a:t>
            </a:r>
            <a:r>
              <a:rPr lang="ko-KR" altLang="en-US" dirty="0"/>
              <a:t> 변수에 저장하지 않았다는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반환값을</a:t>
            </a:r>
            <a:r>
              <a:rPr lang="ko-KR" altLang="en-US" dirty="0"/>
              <a:t> 저장하지 않으면</a:t>
            </a:r>
            <a:br>
              <a:rPr lang="ko-KR" altLang="en-US" dirty="0"/>
            </a:br>
            <a:r>
              <a:rPr lang="ko-KR" altLang="en-US" dirty="0"/>
              <a:t>임시 객체가 그 줄에서 바로 소멸합니다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테스트 코드에서는</a:t>
            </a:r>
            <a:br>
              <a:rPr lang="ko-KR" altLang="en-US" dirty="0"/>
            </a:br>
            <a:r>
              <a:rPr lang="ko-KR" altLang="en-US" dirty="0"/>
              <a:t>기존에 </a:t>
            </a:r>
            <a:r>
              <a:rPr lang="ko-KR" altLang="en-US" dirty="0" err="1"/>
              <a:t>잡아둔</a:t>
            </a:r>
            <a:r>
              <a:rPr lang="ko-KR" altLang="en-US" dirty="0"/>
              <a:t> </a:t>
            </a:r>
            <a:r>
              <a:rPr lang="en-US" altLang="ko-KR" dirty="0"/>
              <a:t>raw </a:t>
            </a:r>
            <a:r>
              <a:rPr lang="ko-KR" altLang="en-US" dirty="0"/>
              <a:t>포인터를 계속 사용하고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</a:t>
            </a:r>
            <a:r>
              <a:rPr lang="en-US" altLang="ko-KR" dirty="0"/>
              <a:t>raw </a:t>
            </a:r>
            <a:r>
              <a:rPr lang="ko-KR" altLang="en-US" dirty="0"/>
              <a:t>포인터가</a:t>
            </a:r>
            <a:br>
              <a:rPr lang="ko-KR" altLang="en-US" dirty="0"/>
            </a:br>
            <a:r>
              <a:rPr lang="ko-KR" altLang="en-US" dirty="0"/>
              <a:t>이미 해제된 메모리를 가리키게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문제가 위험한 이유는</a:t>
            </a:r>
            <a:br>
              <a:rPr lang="ko-KR" altLang="en-US" dirty="0"/>
            </a:br>
            <a:r>
              <a:rPr lang="ko-KR" altLang="en-US" dirty="0"/>
              <a:t>항상 바로 실패하지 않을 수 있다는 점입니다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Release </a:t>
            </a:r>
            <a:r>
              <a:rPr lang="ko-KR" altLang="en-US" dirty="0"/>
              <a:t>빌드에서는 해제된 메모리가 우연히 남아 있어</a:t>
            </a:r>
            <a:br>
              <a:rPr lang="ko-KR" altLang="en-US" dirty="0"/>
            </a:br>
            <a:r>
              <a:rPr lang="ko-KR" altLang="en-US" dirty="0"/>
              <a:t>정상처럼 보일 수도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테스트만으로는 놓칠 수 있는 문제였습니다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코드 리뷰 과정에서</a:t>
            </a:r>
            <a:br>
              <a:rPr lang="ko-KR" altLang="en-US" dirty="0"/>
            </a:br>
            <a:r>
              <a:rPr lang="ko-KR" altLang="en-US" dirty="0"/>
              <a:t>“</a:t>
            </a:r>
            <a:r>
              <a:rPr lang="ko-KR" altLang="en-US" dirty="0" err="1"/>
              <a:t>반환값을</a:t>
            </a:r>
            <a:r>
              <a:rPr lang="ko-KR" altLang="en-US" dirty="0"/>
              <a:t> 받지 </a:t>
            </a:r>
            <a:r>
              <a:rPr lang="ko-KR" altLang="en-US" dirty="0" err="1"/>
              <a:t>않는다”는</a:t>
            </a:r>
            <a:r>
              <a:rPr lang="ko-KR" altLang="en-US" dirty="0"/>
              <a:t> 코드 패턴을 보고</a:t>
            </a:r>
            <a:br>
              <a:rPr lang="ko-KR" altLang="en-US" dirty="0"/>
            </a:br>
            <a:r>
              <a:rPr lang="ko-KR" altLang="en-US" dirty="0"/>
              <a:t>수명 문제가 발견됐습니다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수정은 </a:t>
            </a:r>
            <a:r>
              <a:rPr lang="ko-KR" altLang="en-US" dirty="0" err="1"/>
              <a:t>반환값을</a:t>
            </a:r>
            <a:r>
              <a:rPr lang="ko-KR" altLang="en-US" dirty="0"/>
              <a:t> 변수에 저장해</a:t>
            </a:r>
            <a:br>
              <a:rPr lang="ko-KR" altLang="en-US" dirty="0"/>
            </a:br>
            <a:r>
              <a:rPr lang="en-US" altLang="ko-KR" dirty="0"/>
              <a:t>AST</a:t>
            </a:r>
            <a:r>
              <a:rPr lang="ko-KR" altLang="en-US" dirty="0"/>
              <a:t>의 수명을 유지하는 방식으로 진행했습니다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사례의 핵심은</a:t>
            </a:r>
            <a:br>
              <a:rPr lang="ko-KR" altLang="en-US" dirty="0"/>
            </a:br>
            <a:r>
              <a:rPr lang="ko-KR" altLang="en-US" b="1" dirty="0"/>
              <a:t>테스트가 잡기 어려운 메모리 수명 문제를 리뷰가 병합 전에 차단했다</a:t>
            </a:r>
            <a:r>
              <a:rPr lang="ko-KR" altLang="en-US" dirty="0"/>
              <a:t>는 점입니다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270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수정 전 코드는 이렇습니다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 err="1"/>
              <a:t>optimizer_.optimize</a:t>
            </a:r>
            <a:r>
              <a:rPr lang="en-US" altLang="ko-KR" dirty="0"/>
              <a:t>(std::move(</a:t>
            </a:r>
            <a:r>
              <a:rPr lang="en-US" altLang="ko-KR" dirty="0" err="1"/>
              <a:t>stmts</a:t>
            </a:r>
            <a:r>
              <a:rPr lang="en-US" altLang="ko-KR" dirty="0"/>
              <a:t>));</a:t>
            </a:r>
            <a:br>
              <a:rPr lang="en-US" altLang="ko-KR" dirty="0"/>
            </a:br>
            <a:r>
              <a:rPr lang="en-US" altLang="ko-KR" dirty="0"/>
              <a:t>EXPECT_EQ(raw-&gt;distance, 0);</a:t>
            </a:r>
          </a:p>
          <a:p>
            <a:r>
              <a:rPr lang="en-US" altLang="ko-KR" dirty="0"/>
              <a:t>optimize()</a:t>
            </a:r>
            <a:r>
              <a:rPr lang="ko-KR" altLang="en-US" dirty="0"/>
              <a:t>는 새 </a:t>
            </a:r>
            <a:r>
              <a:rPr lang="en-US" altLang="ko-KR" dirty="0"/>
              <a:t>AST</a:t>
            </a:r>
            <a:r>
              <a:rPr lang="ko-KR" altLang="en-US" dirty="0"/>
              <a:t>를 반환하지만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</a:t>
            </a:r>
            <a:r>
              <a:rPr lang="ko-KR" altLang="en-US" dirty="0" err="1"/>
              <a:t>반환값을</a:t>
            </a:r>
            <a:r>
              <a:rPr lang="ko-KR" altLang="en-US" dirty="0"/>
              <a:t> 아무 변수에도 저장하지 않았습니다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반환된 </a:t>
            </a:r>
            <a:r>
              <a:rPr lang="en-US" altLang="ko-KR" dirty="0"/>
              <a:t>AST</a:t>
            </a:r>
            <a:r>
              <a:rPr lang="ko-KR" altLang="en-US" dirty="0"/>
              <a:t>는 즉시 소멸합니다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아래에서 </a:t>
            </a:r>
            <a:r>
              <a:rPr lang="en-US" altLang="ko-KR" dirty="0"/>
              <a:t>raw-&gt;distance</a:t>
            </a:r>
            <a:r>
              <a:rPr lang="ko-KR" altLang="en-US" dirty="0"/>
              <a:t>를 확인하고 있기 때문에</a:t>
            </a:r>
            <a:br>
              <a:rPr lang="ko-KR" altLang="en-US" dirty="0"/>
            </a:br>
            <a:r>
              <a:rPr lang="ko-KR" altLang="en-US" dirty="0"/>
              <a:t>이미 해제된 메모리에 접근할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 후에는 </a:t>
            </a:r>
            <a:r>
              <a:rPr lang="ko-KR" altLang="en-US" dirty="0" err="1"/>
              <a:t>반환값을</a:t>
            </a:r>
            <a:r>
              <a:rPr lang="ko-KR" altLang="en-US" dirty="0"/>
              <a:t> </a:t>
            </a:r>
            <a:r>
              <a:rPr lang="en-US" altLang="ko-KR" dirty="0"/>
              <a:t>kept</a:t>
            </a:r>
            <a:r>
              <a:rPr lang="ko-KR" altLang="en-US" dirty="0"/>
              <a:t>에 저장했습니다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auto kept = </a:t>
            </a:r>
            <a:r>
              <a:rPr lang="en-US" altLang="ko-KR" dirty="0" err="1"/>
              <a:t>optimizer_.optimize</a:t>
            </a:r>
            <a:r>
              <a:rPr lang="en-US" altLang="ko-KR" dirty="0"/>
              <a:t>(std::move(</a:t>
            </a:r>
            <a:r>
              <a:rPr lang="en-US" altLang="ko-KR" dirty="0" err="1"/>
              <a:t>stmts</a:t>
            </a:r>
            <a:r>
              <a:rPr lang="en-US" altLang="ko-KR" dirty="0"/>
              <a:t>));</a:t>
            </a:r>
            <a:br>
              <a:rPr lang="en-US" altLang="ko-KR" dirty="0"/>
            </a:br>
            <a:r>
              <a:rPr lang="en-US" altLang="ko-KR" dirty="0"/>
              <a:t>EXPECT_EQ(raw-&gt;distance, 0);</a:t>
            </a:r>
          </a:p>
          <a:p>
            <a:r>
              <a:rPr lang="ko-KR" altLang="en-US" dirty="0"/>
              <a:t>이렇게 하면 </a:t>
            </a:r>
            <a:r>
              <a:rPr lang="en-US" altLang="ko-KR" dirty="0"/>
              <a:t>kept</a:t>
            </a:r>
            <a:r>
              <a:rPr lang="ko-KR" altLang="en-US" dirty="0"/>
              <a:t>가 살아있는 동안</a:t>
            </a:r>
            <a:br>
              <a:rPr lang="ko-KR" altLang="en-US" dirty="0"/>
            </a:br>
            <a:r>
              <a:rPr lang="en-US" altLang="ko-KR" dirty="0"/>
              <a:t>AST</a:t>
            </a:r>
            <a:r>
              <a:rPr lang="ko-KR" altLang="en-US" dirty="0"/>
              <a:t>도 함께 살아있습니다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raw </a:t>
            </a:r>
            <a:r>
              <a:rPr lang="ko-KR" altLang="en-US" dirty="0"/>
              <a:t>포인터가 유효한 객체를 가리키게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동일한 패턴 </a:t>
            </a:r>
            <a:r>
              <a:rPr lang="en-US" altLang="ko-KR" dirty="0"/>
              <a:t>4</a:t>
            </a:r>
            <a:r>
              <a:rPr lang="ko-KR" altLang="en-US" dirty="0"/>
              <a:t>곳을 수정했고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Debug </a:t>
            </a:r>
            <a:r>
              <a:rPr lang="ko-KR" altLang="en-US" dirty="0"/>
              <a:t>빌드에서 발생하던 </a:t>
            </a:r>
            <a:r>
              <a:rPr lang="en-US" altLang="ko-KR" dirty="0"/>
              <a:t>4</a:t>
            </a:r>
            <a:r>
              <a:rPr lang="ko-KR" altLang="en-US" dirty="0"/>
              <a:t>개 테스트 </a:t>
            </a:r>
            <a:r>
              <a:rPr lang="ko-KR" altLang="en-US" dirty="0" err="1"/>
              <a:t>크래시를</a:t>
            </a:r>
            <a:r>
              <a:rPr lang="ko-KR" altLang="en-US" dirty="0"/>
              <a:t> 해결했습니다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945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 </a:t>
            </a:r>
            <a:r>
              <a:rPr lang="en-US" altLang="ko-KR" dirty="0"/>
              <a:t>Best Practice</a:t>
            </a:r>
            <a:r>
              <a:rPr lang="ko-KR" altLang="en-US" dirty="0"/>
              <a:t>는 </a:t>
            </a:r>
            <a:r>
              <a:rPr lang="en-US" altLang="ko-KR" dirty="0"/>
              <a:t>Refactoring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동작을 바꾸지 않고</a:t>
            </a:r>
            <a:br>
              <a:rPr lang="ko-KR" altLang="en-US" dirty="0"/>
            </a:br>
            <a:r>
              <a:rPr lang="ko-KR" altLang="en-US" dirty="0"/>
              <a:t>구조만 개선하는 방향으로 </a:t>
            </a:r>
            <a:r>
              <a:rPr lang="ko-KR" altLang="en-US" dirty="0" err="1"/>
              <a:t>리팩터링했습니다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 번째는 중복 코드를 줄이기 위해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Parser</a:t>
            </a:r>
            <a:r>
              <a:rPr lang="ko-KR" altLang="en-US" dirty="0"/>
              <a:t>의 여러 메서드에서</a:t>
            </a:r>
            <a:br>
              <a:rPr lang="ko-KR" altLang="en-US" dirty="0"/>
            </a:br>
            <a:r>
              <a:rPr lang="en-US" altLang="ko-KR" dirty="0"/>
              <a:t>while(match)</a:t>
            </a:r>
            <a:r>
              <a:rPr lang="ko-KR" altLang="en-US" dirty="0"/>
              <a:t>로 연산자를 처리하고 </a:t>
            </a:r>
            <a:r>
              <a:rPr lang="en-US" altLang="ko-KR" dirty="0"/>
              <a:t>AST </a:t>
            </a:r>
            <a:r>
              <a:rPr lang="ko-KR" altLang="en-US" dirty="0"/>
              <a:t>노드를 만드는 패턴이 반복됐습니다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</a:t>
            </a:r>
            <a:r>
              <a:rPr lang="en-US" altLang="ko-KR" dirty="0" err="1"/>
              <a:t>parseBinaryLeft</a:t>
            </a:r>
            <a:r>
              <a:rPr lang="en-US" altLang="ko-KR" dirty="0"/>
              <a:t>() </a:t>
            </a:r>
            <a:r>
              <a:rPr lang="ko-KR" altLang="en-US" dirty="0" err="1"/>
              <a:t>헬퍼로</a:t>
            </a:r>
            <a:r>
              <a:rPr lang="ko-KR" altLang="en-US" dirty="0"/>
              <a:t> 추출해 중복을 제거했습니다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번째는 </a:t>
            </a:r>
            <a:r>
              <a:rPr lang="en-US" altLang="ko-KR" dirty="0"/>
              <a:t>Executor</a:t>
            </a:r>
            <a:r>
              <a:rPr lang="ko-KR" altLang="en-US" dirty="0"/>
              <a:t>의 </a:t>
            </a:r>
            <a:r>
              <a:rPr lang="en-US" altLang="ko-KR" dirty="0" err="1"/>
              <a:t>visitCallExpr</a:t>
            </a:r>
            <a:r>
              <a:rPr lang="en-US" altLang="ko-KR" dirty="0"/>
              <a:t>()</a:t>
            </a:r>
            <a:r>
              <a:rPr lang="ko-KR" altLang="en-US" dirty="0"/>
              <a:t>가</a:t>
            </a:r>
            <a:br>
              <a:rPr lang="ko-KR" altLang="en-US" dirty="0"/>
            </a:br>
            <a:r>
              <a:rPr lang="ko-KR" altLang="en-US" dirty="0"/>
              <a:t>함수 호출 판단과 </a:t>
            </a:r>
            <a:r>
              <a:rPr lang="en-US" altLang="ko-KR" dirty="0"/>
              <a:t>Array </a:t>
            </a:r>
            <a:r>
              <a:rPr lang="ko-KR" altLang="en-US" dirty="0"/>
              <a:t>내장 함수 실행을 모두 담당하며 </a:t>
            </a:r>
            <a:r>
              <a:rPr lang="en-US" altLang="ko-KR" dirty="0"/>
              <a:t>SRP </a:t>
            </a:r>
            <a:r>
              <a:rPr lang="ko-KR" altLang="en-US" dirty="0"/>
              <a:t>원칙을 위배하고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</a:t>
            </a:r>
            <a:r>
              <a:rPr lang="en-US" altLang="ko-KR" dirty="0" err="1"/>
              <a:t>callBuiltinArray</a:t>
            </a:r>
            <a:r>
              <a:rPr lang="en-US" altLang="ko-KR" dirty="0"/>
              <a:t>()</a:t>
            </a:r>
            <a:r>
              <a:rPr lang="ko-KR" altLang="en-US" dirty="0"/>
              <a:t>로 분리해서</a:t>
            </a:r>
            <a:br>
              <a:rPr lang="ko-KR" altLang="en-US" dirty="0"/>
            </a:br>
            <a:r>
              <a:rPr lang="ko-KR" altLang="en-US" dirty="0"/>
              <a:t>각 메서드의 책임을 명확히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모든 </a:t>
            </a:r>
            <a:r>
              <a:rPr lang="ko-KR" altLang="en-US" dirty="0" err="1"/>
              <a:t>리팩터링</a:t>
            </a:r>
            <a:r>
              <a:rPr lang="ko-KR" altLang="en-US" dirty="0"/>
              <a:t> 후에는 전체 테스트를 다시 실행해</a:t>
            </a:r>
            <a:br>
              <a:rPr lang="ko-KR" altLang="en-US" dirty="0"/>
            </a:br>
            <a:r>
              <a:rPr lang="ko-KR" altLang="en-US" dirty="0"/>
              <a:t>기존 동작이 유지되는지 확인했습니다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897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슬라이드는 </a:t>
            </a:r>
            <a:r>
              <a:rPr lang="en-US" altLang="ko-KR" dirty="0"/>
              <a:t>Parser </a:t>
            </a:r>
            <a:r>
              <a:rPr lang="ko-KR" altLang="en-US" dirty="0"/>
              <a:t>중복 제거 사례입니다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 전에는 </a:t>
            </a:r>
            <a:r>
              <a:rPr lang="en-US" altLang="ko-KR" dirty="0" err="1"/>
              <a:t>logicalOr</a:t>
            </a:r>
            <a:r>
              <a:rPr lang="en-US" altLang="ko-KR" dirty="0"/>
              <a:t>, </a:t>
            </a:r>
            <a:r>
              <a:rPr lang="en-US" altLang="ko-KR" dirty="0" err="1"/>
              <a:t>logicalAnd</a:t>
            </a:r>
            <a:r>
              <a:rPr lang="en-US" altLang="ko-KR" dirty="0"/>
              <a:t>, equality, comparison, term, factor</a:t>
            </a:r>
            <a:br>
              <a:rPr lang="en-US" altLang="ko-KR" dirty="0"/>
            </a:br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개 메서드가 비슷한 구조를 반복했습니다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공통 패턴은</a:t>
            </a:r>
            <a:br>
              <a:rPr lang="ko-KR" altLang="en-US" dirty="0"/>
            </a:br>
            <a:r>
              <a:rPr lang="ko-KR" altLang="en-US" dirty="0"/>
              <a:t>왼쪽 표현식을 파싱하고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특정 연산자를 만나면 오른쪽 표현식을 </a:t>
            </a:r>
            <a:r>
              <a:rPr lang="ko-KR" altLang="en-US" dirty="0" err="1"/>
              <a:t>파싱한</a:t>
            </a:r>
            <a:r>
              <a:rPr lang="ko-KR" altLang="en-US" dirty="0"/>
              <a:t> 뒤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새 </a:t>
            </a:r>
            <a:r>
              <a:rPr lang="en-US" altLang="ko-KR" dirty="0"/>
              <a:t>AST </a:t>
            </a:r>
            <a:r>
              <a:rPr lang="ko-KR" altLang="en-US" dirty="0"/>
              <a:t>노드를 만드는 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연산자 종류만 다르고 구조는 거의 같았습니다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이 공통 로직을 </a:t>
            </a:r>
            <a:r>
              <a:rPr lang="en-US" altLang="ko-KR" dirty="0" err="1"/>
              <a:t>parseBinaryLeft</a:t>
            </a:r>
            <a:r>
              <a:rPr lang="en-US" altLang="ko-KR" dirty="0"/>
              <a:t>()</a:t>
            </a:r>
            <a:r>
              <a:rPr lang="ko-KR" altLang="en-US" dirty="0"/>
              <a:t>로 추출했습니다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 후에는 각 메서드가</a:t>
            </a:r>
            <a:br>
              <a:rPr lang="ko-KR" altLang="en-US" dirty="0"/>
            </a:br>
            <a:r>
              <a:rPr lang="ko-KR" altLang="en-US" dirty="0"/>
              <a:t>다음 우선순위 </a:t>
            </a:r>
            <a:r>
              <a:rPr lang="ko-KR" altLang="en-US" dirty="0" err="1"/>
              <a:t>파서와</a:t>
            </a:r>
            <a:r>
              <a:rPr lang="ko-KR" altLang="en-US" dirty="0"/>
              <a:t> 처리할 연산자만 넘기는 형태가 됐습니다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</a:t>
            </a:r>
            <a:r>
              <a:rPr lang="en-US" altLang="ko-KR" dirty="0"/>
              <a:t>6</a:t>
            </a:r>
            <a:r>
              <a:rPr lang="ko-KR" altLang="en-US" dirty="0"/>
              <a:t>개 메서드의 중복이 줄었고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나중에 연산자를 추가할 때도 같은 </a:t>
            </a:r>
            <a:r>
              <a:rPr lang="ko-KR" altLang="en-US" dirty="0" err="1"/>
              <a:t>헬퍼를</a:t>
            </a:r>
            <a:r>
              <a:rPr lang="ko-KR" altLang="en-US" dirty="0"/>
              <a:t> 재사용할 수 있게 됐습니다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1271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이번은 </a:t>
            </a:r>
            <a:r>
              <a:rPr lang="en-US" altLang="ko-KR" dirty="0"/>
              <a:t>Executor</a:t>
            </a:r>
            <a:r>
              <a:rPr lang="ko-KR" altLang="en-US" dirty="0"/>
              <a:t>의 책임 분리 사례입니다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 전 </a:t>
            </a:r>
            <a:r>
              <a:rPr lang="en-US" altLang="ko-KR" dirty="0" err="1"/>
              <a:t>visitCallExpr</a:t>
            </a:r>
            <a:r>
              <a:rPr lang="en-US" altLang="ko-KR" dirty="0"/>
              <a:t>()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ko-KR" altLang="en-US" dirty="0"/>
              <a:t>어떤 함수를 호출할지 판단하는 역할과</a:t>
            </a:r>
            <a:br>
              <a:rPr lang="ko-KR" altLang="en-US" dirty="0"/>
            </a:br>
            <a:r>
              <a:rPr lang="en-US" altLang="ko-KR" dirty="0"/>
              <a:t>Array </a:t>
            </a:r>
            <a:r>
              <a:rPr lang="ko-KR" altLang="en-US" dirty="0"/>
              <a:t>내장 함수를 실제 실행하는 역할을 모두 가지고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메서드가 길어지고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내장 함수가 늘어날수록 더 복잡해질 구조였습니다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수정 후에는 </a:t>
            </a:r>
            <a:r>
              <a:rPr lang="en-US" altLang="ko-KR" dirty="0"/>
              <a:t>Array </a:t>
            </a:r>
            <a:r>
              <a:rPr lang="ko-KR" altLang="en-US" dirty="0"/>
              <a:t>실행 로직을</a:t>
            </a:r>
            <a:br>
              <a:rPr lang="ko-KR" altLang="en-US" dirty="0"/>
            </a:br>
            <a:r>
              <a:rPr lang="en-US" altLang="ko-KR" dirty="0" err="1"/>
              <a:t>callBuiltinArray</a:t>
            </a:r>
            <a:r>
              <a:rPr lang="en-US" altLang="ko-KR" dirty="0"/>
              <a:t>()</a:t>
            </a:r>
            <a:r>
              <a:rPr lang="ko-KR" altLang="en-US" dirty="0"/>
              <a:t>로 분리했습니다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 </a:t>
            </a:r>
            <a:r>
              <a:rPr lang="en-US" altLang="ko-KR" dirty="0" err="1"/>
              <a:t>visitCallExpr</a:t>
            </a:r>
            <a:r>
              <a:rPr lang="en-US" altLang="ko-KR" dirty="0"/>
              <a:t>()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ko-KR" altLang="en-US" dirty="0"/>
              <a:t>어떤 함수를 호출할지 결정하는 </a:t>
            </a:r>
            <a:r>
              <a:rPr lang="ko-KR" altLang="en-US" dirty="0" err="1"/>
              <a:t>디스패치</a:t>
            </a:r>
            <a:r>
              <a:rPr lang="ko-KR" altLang="en-US" dirty="0"/>
              <a:t> 역할만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</a:t>
            </a:r>
            <a:r>
              <a:rPr lang="en-US" altLang="ko-KR" dirty="0"/>
              <a:t>Array</a:t>
            </a:r>
            <a:r>
              <a:rPr lang="ko-KR" altLang="en-US" dirty="0"/>
              <a:t>의 인자 검증이나 배열 생성은</a:t>
            </a:r>
            <a:br>
              <a:rPr lang="ko-KR" altLang="en-US" dirty="0"/>
            </a:br>
            <a:r>
              <a:rPr lang="en-US" altLang="ko-KR" dirty="0" err="1"/>
              <a:t>callBuiltinArray</a:t>
            </a:r>
            <a:r>
              <a:rPr lang="en-US" altLang="ko-KR" dirty="0"/>
              <a:t>()</a:t>
            </a:r>
            <a:r>
              <a:rPr lang="ko-KR" altLang="en-US" dirty="0"/>
              <a:t>가 담당합니다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나누면 각 메서드의 책임이 명확해지고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향후 내장 함수가 추가되어도 같은 방식으로 확장할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3570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 </a:t>
            </a:r>
            <a:r>
              <a:rPr lang="en-US" altLang="ko-KR" dirty="0"/>
              <a:t>Best Practice</a:t>
            </a:r>
            <a:r>
              <a:rPr lang="ko-KR" altLang="en-US" dirty="0"/>
              <a:t>는 </a:t>
            </a:r>
            <a:r>
              <a:rPr lang="en-US" altLang="ko-KR" dirty="0"/>
              <a:t>AI </a:t>
            </a:r>
            <a:r>
              <a:rPr lang="ko-KR" altLang="en-US" dirty="0"/>
              <a:t>활용입니다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저희는 주로 </a:t>
            </a:r>
            <a:r>
              <a:rPr lang="en-US" altLang="ko-KR" dirty="0"/>
              <a:t>Test case </a:t>
            </a:r>
            <a:r>
              <a:rPr lang="ko-KR" altLang="en-US" dirty="0"/>
              <a:t>생성 시 활용 </a:t>
            </a:r>
            <a:r>
              <a:rPr lang="ko-KR" altLang="en-US" dirty="0" err="1"/>
              <a:t>했었는데요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dirty="0" err="1"/>
              <a:t>OpenCppCoverage</a:t>
            </a:r>
            <a:r>
              <a:rPr lang="en-US" altLang="ko-KR" dirty="0"/>
              <a:t> </a:t>
            </a:r>
            <a:r>
              <a:rPr lang="ko-KR" altLang="en-US" dirty="0"/>
              <a:t>리포트를 확인해서</a:t>
            </a:r>
            <a:br>
              <a:rPr lang="ko-KR" altLang="en-US" dirty="0"/>
            </a:br>
            <a:r>
              <a:rPr lang="ko-KR" altLang="en-US" dirty="0"/>
              <a:t>커버리지가 부족한 파일이나 </a:t>
            </a:r>
            <a:r>
              <a:rPr lang="ko-KR" altLang="en-US" dirty="0" err="1"/>
              <a:t>브랜치를</a:t>
            </a:r>
            <a:r>
              <a:rPr lang="ko-KR" altLang="en-US" dirty="0"/>
              <a:t> 찾았습니다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그다음</a:t>
            </a:r>
            <a:r>
              <a:rPr lang="ko-KR" altLang="en-US" dirty="0"/>
              <a:t> 누락된 테스트 케이스를 정리했습니다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</a:t>
            </a:r>
            <a:r>
              <a:rPr lang="en-US" altLang="ko-KR" dirty="0"/>
              <a:t>Claude Code</a:t>
            </a:r>
            <a:r>
              <a:rPr lang="ko-KR" altLang="en-US" dirty="0"/>
              <a:t>를 이용해</a:t>
            </a:r>
            <a:br>
              <a:rPr lang="ko-KR" altLang="en-US" dirty="0"/>
            </a:br>
            <a:r>
              <a:rPr lang="ko-KR" altLang="en-US" dirty="0"/>
              <a:t>테스트 코드 초안을 생성했습니다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팀원이 초안을 리뷰하고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필요한 부분만 선택적으로 반영했습니다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 사례로는 </a:t>
            </a:r>
            <a:r>
              <a:rPr lang="en-US" altLang="ko-KR" dirty="0"/>
              <a:t>PR #40</a:t>
            </a:r>
            <a:r>
              <a:rPr lang="ko-KR" altLang="en-US" dirty="0"/>
              <a:t>에서 </a:t>
            </a:r>
            <a:r>
              <a:rPr lang="en-US" altLang="ko-KR" dirty="0"/>
              <a:t>AI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en-US" altLang="ko-KR" dirty="0"/>
              <a:t>Debugger, </a:t>
            </a:r>
            <a:r>
              <a:rPr lang="en-US" altLang="ko-KR" dirty="0" err="1"/>
              <a:t>FileMode</a:t>
            </a:r>
            <a:r>
              <a:rPr lang="en-US" altLang="ko-KR" dirty="0"/>
              <a:t>, Shell </a:t>
            </a:r>
            <a:r>
              <a:rPr lang="ko-KR" altLang="en-US" dirty="0"/>
              <a:t>관련 테스트 </a:t>
            </a:r>
            <a:r>
              <a:rPr lang="en-US" altLang="ko-KR" dirty="0"/>
              <a:t>17</a:t>
            </a:r>
            <a:r>
              <a:rPr lang="ko-KR" altLang="en-US" dirty="0"/>
              <a:t>개 작성을 보조했습니다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PR #47</a:t>
            </a:r>
            <a:r>
              <a:rPr lang="ko-KR" altLang="en-US" dirty="0"/>
              <a:t>에서는 커버리지 부족 파일 </a:t>
            </a:r>
            <a:r>
              <a:rPr lang="en-US" altLang="ko-KR" dirty="0"/>
              <a:t>5</a:t>
            </a:r>
            <a:r>
              <a:rPr lang="ko-KR" altLang="en-US" dirty="0"/>
              <a:t>개에 대해</a:t>
            </a:r>
            <a:br>
              <a:rPr lang="ko-KR" altLang="en-US" dirty="0"/>
            </a:br>
            <a:r>
              <a:rPr lang="ko-KR" altLang="en-US" dirty="0"/>
              <a:t>테스트 초안을 만드는 데 활용했습니다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 </a:t>
            </a:r>
            <a:r>
              <a:rPr lang="en-US" altLang="ko-KR" dirty="0"/>
              <a:t>PR #32</a:t>
            </a:r>
            <a:r>
              <a:rPr lang="ko-KR" altLang="en-US" dirty="0"/>
              <a:t>에서는 </a:t>
            </a:r>
            <a:r>
              <a:rPr lang="en-US" altLang="ko-KR" dirty="0"/>
              <a:t>Dangling Pointer </a:t>
            </a:r>
            <a:r>
              <a:rPr lang="ko-KR" altLang="en-US" dirty="0"/>
              <a:t>패턴을 확인하고</a:t>
            </a:r>
            <a:br>
              <a:rPr lang="ko-KR" altLang="en-US" dirty="0"/>
            </a:br>
            <a:r>
              <a:rPr lang="ko-KR" altLang="en-US" dirty="0"/>
              <a:t>수정 방향을 검토하는 데 도움을 받았습니다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3108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여기까지가</a:t>
            </a:r>
            <a:r>
              <a:rPr lang="ko-KR" altLang="en-US" dirty="0"/>
              <a:t> </a:t>
            </a:r>
            <a:r>
              <a:rPr lang="en-US" altLang="ko-KR" dirty="0"/>
              <a:t>Interpreter</a:t>
            </a:r>
            <a:r>
              <a:rPr lang="ko-KR" altLang="en-US" dirty="0"/>
              <a:t>의 구조와</a:t>
            </a:r>
            <a:br>
              <a:rPr lang="ko-KR" altLang="en-US" dirty="0"/>
            </a:br>
            <a:r>
              <a:rPr lang="ko-KR" altLang="en-US" dirty="0"/>
              <a:t>개발 과정에서 적용한 </a:t>
            </a:r>
            <a:r>
              <a:rPr lang="en-US" altLang="ko-KR" dirty="0"/>
              <a:t>Best Practice </a:t>
            </a:r>
            <a:r>
              <a:rPr lang="ko-KR" altLang="en-US" dirty="0"/>
              <a:t>사례였습니다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 실제로 구현한 </a:t>
            </a:r>
            <a:r>
              <a:rPr lang="en-US" altLang="ko-KR" dirty="0"/>
              <a:t>Interpreter</a:t>
            </a:r>
            <a:r>
              <a:rPr lang="ko-KR" altLang="en-US" dirty="0"/>
              <a:t>가 어떻게 동작하는지 시연으로 보여드리겠습니다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시연에서는</a:t>
            </a:r>
            <a:br>
              <a:rPr lang="ko-KR" altLang="en-US" dirty="0"/>
            </a:br>
            <a:r>
              <a:rPr lang="en-US" altLang="ko-KR" b="1" dirty="0"/>
              <a:t>REPL </a:t>
            </a:r>
            <a:r>
              <a:rPr lang="ko-KR" altLang="en-US" b="1" dirty="0"/>
              <a:t>모드</a:t>
            </a:r>
            <a:r>
              <a:rPr lang="en-US" altLang="ko-KR" b="1" dirty="0"/>
              <a:t>, File Mode, Debug Mode</a:t>
            </a:r>
            <a:r>
              <a:rPr lang="ko-KR" altLang="en-US" dirty="0"/>
              <a:t>를 순서대로 확인하겠습니다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247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 내용을 정리하겠습니다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기능 구현 측면에서는</a:t>
            </a:r>
            <a:br>
              <a:rPr lang="ko-KR" altLang="en-US" dirty="0"/>
            </a:br>
            <a:r>
              <a:rPr lang="ko-KR" altLang="en-US" dirty="0"/>
              <a:t>소스 코드가 </a:t>
            </a:r>
            <a:r>
              <a:rPr lang="en-US" altLang="ko-KR" dirty="0"/>
              <a:t>Tokenizer, Parser, Checker, Optimizer, Executor</a:t>
            </a:r>
            <a:r>
              <a:rPr lang="ko-KR" altLang="en-US" dirty="0"/>
              <a:t>를 거쳐 실행되는</a:t>
            </a:r>
            <a:br>
              <a:rPr lang="ko-KR" altLang="en-US" dirty="0"/>
            </a:br>
            <a:r>
              <a:rPr lang="en-US" altLang="ko-KR" b="1" dirty="0"/>
              <a:t>5</a:t>
            </a:r>
            <a:r>
              <a:rPr lang="ko-KR" altLang="en-US" b="1" dirty="0"/>
              <a:t>단계 파이프라인</a:t>
            </a:r>
            <a:r>
              <a:rPr lang="ko-KR" altLang="en-US" dirty="0"/>
              <a:t>을 구성했습니다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설계 측면에서는</a:t>
            </a:r>
            <a:br>
              <a:rPr lang="ko-KR" altLang="en-US" dirty="0"/>
            </a:br>
            <a:r>
              <a:rPr lang="en-US" altLang="ko-KR" dirty="0"/>
              <a:t>Visitor, Strategy, Chain of Responsibility, Observer, RAII, Dependency Injection</a:t>
            </a:r>
            <a:r>
              <a:rPr lang="ko-KR" altLang="en-US" dirty="0"/>
              <a:t>을 적용해</a:t>
            </a:r>
            <a:br>
              <a:rPr lang="ko-KR" altLang="en-US" dirty="0"/>
            </a:br>
            <a:r>
              <a:rPr lang="ko-KR" altLang="en-US" dirty="0"/>
              <a:t>역할을 분리하고 확장 가능한 구조를 만들었습니다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Best Practice </a:t>
            </a:r>
            <a:r>
              <a:rPr lang="ko-KR" altLang="en-US" dirty="0"/>
              <a:t>측면에서는</a:t>
            </a:r>
            <a:br>
              <a:rPr lang="ko-KR" altLang="en-US" dirty="0"/>
            </a:br>
            <a:r>
              <a:rPr lang="en-US" altLang="ko-KR" dirty="0"/>
              <a:t>TDD</a:t>
            </a:r>
            <a:r>
              <a:rPr lang="ko-KR" altLang="en-US" dirty="0"/>
              <a:t>를 통해 테스트를 먼저 작성하고 구현과 </a:t>
            </a:r>
            <a:r>
              <a:rPr lang="ko-KR" altLang="en-US" dirty="0" err="1"/>
              <a:t>리팩터링을</a:t>
            </a:r>
            <a:r>
              <a:rPr lang="ko-KR" altLang="en-US" dirty="0"/>
              <a:t> 반복했습니다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코드 리뷰에서는</a:t>
            </a:r>
            <a:br>
              <a:rPr lang="ko-KR" altLang="en-US" dirty="0"/>
            </a:br>
            <a:r>
              <a:rPr lang="en-US" altLang="ko-KR" dirty="0"/>
              <a:t>Dangling Pointer </a:t>
            </a:r>
            <a:r>
              <a:rPr lang="ko-KR" altLang="en-US" dirty="0"/>
              <a:t>같은 메모리 수명 문제를 병합 전에 발견했습니다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리팩터링에서는</a:t>
            </a:r>
            <a:br>
              <a:rPr lang="ko-KR" altLang="en-US" dirty="0"/>
            </a:br>
            <a:r>
              <a:rPr lang="en-US" altLang="ko-KR" dirty="0"/>
              <a:t>Parser </a:t>
            </a:r>
            <a:r>
              <a:rPr lang="ko-KR" altLang="en-US" dirty="0"/>
              <a:t>중복 제거와 </a:t>
            </a:r>
            <a:r>
              <a:rPr lang="en-US" altLang="ko-KR" dirty="0"/>
              <a:t>Executor </a:t>
            </a:r>
            <a:r>
              <a:rPr lang="ko-KR" altLang="en-US" dirty="0"/>
              <a:t>책임 분리를 통해</a:t>
            </a:r>
            <a:br>
              <a:rPr lang="ko-KR" altLang="en-US" dirty="0"/>
            </a:br>
            <a:r>
              <a:rPr lang="ko-KR" altLang="en-US" dirty="0"/>
              <a:t>동작은 유지하면서 구조를 개선했습니다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는 누락 테스트 케이스를 찾고 초안을 만드는 보조 도구로 활용했습니다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049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프로젝트를 통해 </a:t>
            </a:r>
            <a:r>
              <a:rPr lang="en-US" altLang="ko-KR" dirty="0"/>
              <a:t>TDD</a:t>
            </a:r>
            <a:r>
              <a:rPr lang="ko-KR" altLang="en-US" dirty="0"/>
              <a:t>와 코드 리뷰가 코드 품질을 지키는 중요한 장치라는 것을 체감했습니다</a:t>
            </a:r>
            <a:r>
              <a:rPr lang="en-US" altLang="ko-KR" dirty="0"/>
              <a:t>. </a:t>
            </a:r>
            <a:r>
              <a:rPr lang="ko-KR" altLang="en-US" dirty="0"/>
              <a:t>테스트가 있었기 때문에 </a:t>
            </a:r>
            <a:r>
              <a:rPr lang="ko-KR" altLang="en-US" dirty="0" err="1"/>
              <a:t>리팩터링을</a:t>
            </a:r>
            <a:r>
              <a:rPr lang="ko-KR" altLang="en-US" dirty="0"/>
              <a:t> 과감하게 할 수 있었고</a:t>
            </a:r>
            <a:r>
              <a:rPr lang="en-US" altLang="ko-KR" dirty="0"/>
              <a:t>, </a:t>
            </a:r>
            <a:r>
              <a:rPr lang="ko-KR" altLang="en-US" dirty="0"/>
              <a:t>리뷰를 통해 메모리 수명 문제도 병합 전에 발견할 수 있었습니다</a:t>
            </a:r>
            <a:r>
              <a:rPr lang="en-US" altLang="ko-KR" dirty="0"/>
              <a:t>. </a:t>
            </a:r>
            <a:r>
              <a:rPr lang="ko-KR" altLang="en-US" dirty="0"/>
              <a:t>저희 </a:t>
            </a:r>
            <a:r>
              <a:rPr lang="en-US" altLang="ko-KR" dirty="0"/>
              <a:t>Build Clean </a:t>
            </a:r>
            <a:r>
              <a:rPr lang="ko-KR" altLang="en-US" dirty="0"/>
              <a:t>팀은 동작하는 코드에서 끝나지 않고</a:t>
            </a:r>
            <a:r>
              <a:rPr lang="en-US" altLang="ko-KR" dirty="0"/>
              <a:t>, </a:t>
            </a:r>
            <a:r>
              <a:rPr lang="ko-KR" altLang="en-US" dirty="0"/>
              <a:t>읽기 쉽고 유지보수하기 좋은 코드를 만드는 데 집중했습니다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C5904-5520-4A89-BFDB-C840A5D3308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6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82296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dirty="0">
                <a:solidFill>
                  <a:srgbClr val="005AB4"/>
                </a:solidFill>
                <a:latin typeface="Malgun Gothic"/>
              </a:rPr>
              <a:t>TEAM PROJECT  ·  </a:t>
            </a:r>
            <a:r>
              <a:rPr lang="en-US" sz="1300" b="1" dirty="0">
                <a:solidFill>
                  <a:srgbClr val="005AB4"/>
                </a:solidFill>
                <a:latin typeface="Malgun Gothic"/>
              </a:rPr>
              <a:t>Code FAB</a:t>
            </a:r>
            <a:r>
              <a:rPr sz="1300" b="1" dirty="0">
                <a:solidFill>
                  <a:srgbClr val="005AB4"/>
                </a:solidFill>
                <a:latin typeface="Malgun Gothic"/>
              </a:rPr>
              <a:t> INTERPRETER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103120"/>
            <a:ext cx="5431536" cy="5029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54480" y="2103120"/>
            <a:ext cx="50292" cy="86868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75504" y="4293108"/>
            <a:ext cx="5431536" cy="5029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56748" y="3474720"/>
            <a:ext cx="50292" cy="86868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240280"/>
            <a:ext cx="9052560" cy="11430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5800" b="1">
                <a:solidFill>
                  <a:srgbClr val="262626"/>
                </a:solidFill>
                <a:latin typeface="Malgun Gothic"/>
              </a:rPr>
              <a:t>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21107"/>
            <a:ext cx="9052560" cy="28212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500" b="0" dirty="0" err="1">
                <a:solidFill>
                  <a:srgbClr val="595959"/>
                </a:solidFill>
                <a:latin typeface="Malgun Gothic"/>
              </a:rPr>
              <a:t>CodeFab</a:t>
            </a:r>
            <a:r>
              <a:rPr sz="1500" b="0" dirty="0">
                <a:solidFill>
                  <a:srgbClr val="595959"/>
                </a:solidFill>
                <a:latin typeface="Malgun Gothic"/>
              </a:rPr>
              <a:t> Interpreter — C++ </a:t>
            </a:r>
            <a:r>
              <a:rPr sz="1500" b="0" dirty="0" err="1">
                <a:solidFill>
                  <a:srgbClr val="595959"/>
                </a:solidFill>
                <a:latin typeface="Malgun Gothic"/>
              </a:rPr>
              <a:t>인터프리터</a:t>
            </a:r>
            <a:r>
              <a:rPr sz="1500" b="0" dirty="0">
                <a:solidFill>
                  <a:srgbClr val="595959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595959"/>
                </a:solidFill>
                <a:latin typeface="Malgun Gothic"/>
              </a:rPr>
              <a:t>설계와</a:t>
            </a:r>
            <a:r>
              <a:rPr sz="1500" b="0" dirty="0">
                <a:solidFill>
                  <a:srgbClr val="595959"/>
                </a:solidFill>
                <a:latin typeface="Malgun Gothic"/>
              </a:rPr>
              <a:t>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617720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dirty="0">
                <a:solidFill>
                  <a:srgbClr val="005AB4"/>
                </a:solidFill>
                <a:latin typeface="Malgun Gothic"/>
              </a:rPr>
              <a:t>"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동작하는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코드에서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끝나지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않고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,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읽기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쉽고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유지보수하기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좋은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클린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 </a:t>
            </a:r>
            <a:r>
              <a:rPr sz="1250" b="1" dirty="0" err="1">
                <a:solidFill>
                  <a:srgbClr val="005AB4"/>
                </a:solidFill>
                <a:latin typeface="Malgun Gothic"/>
              </a:rPr>
              <a:t>코드로</a:t>
            </a:r>
            <a:r>
              <a:rPr sz="1250" b="1" dirty="0">
                <a:solidFill>
                  <a:srgbClr val="005AB4"/>
                </a:solidFill>
                <a:latin typeface="Malgun Gothic"/>
              </a:rPr>
              <a:t>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440680"/>
            <a:ext cx="429768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50" b="0">
                <a:solidFill>
                  <a:srgbClr val="262626"/>
                </a:solidFill>
                <a:latin typeface="Malgun Gothic"/>
              </a:rPr>
              <a:t>우상욱 · 최종원 · 이수련 · 임지웅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779008"/>
            <a:ext cx="429768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 dirty="0">
                <a:solidFill>
                  <a:srgbClr val="7F7F7F"/>
                </a:solidFill>
                <a:latin typeface="Malgun Gothic"/>
              </a:rPr>
              <a:t>202</a:t>
            </a:r>
            <a:r>
              <a:rPr lang="en-US" sz="1100" b="0" dirty="0">
                <a:solidFill>
                  <a:srgbClr val="7F7F7F"/>
                </a:solidFill>
                <a:latin typeface="Malgun Gothic"/>
              </a:rPr>
              <a:t>6</a:t>
            </a:r>
            <a:r>
              <a:rPr sz="1100" b="0" dirty="0">
                <a:solidFill>
                  <a:srgbClr val="7F7F7F"/>
                </a:solidFill>
                <a:latin typeface="Malgun Gothic"/>
              </a:rPr>
              <a:t> 팀 </a:t>
            </a:r>
            <a:r>
              <a:rPr sz="1100" b="0" dirty="0" err="1">
                <a:solidFill>
                  <a:srgbClr val="7F7F7F"/>
                </a:solidFill>
                <a:latin typeface="Malgun Gothic"/>
              </a:rPr>
              <a:t>프로젝트</a:t>
            </a:r>
            <a:r>
              <a:rPr sz="1100" b="0" dirty="0">
                <a:solidFill>
                  <a:srgbClr val="7F7F7F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7F7F7F"/>
                </a:solidFill>
                <a:latin typeface="Malgun Gothic"/>
              </a:rPr>
              <a:t>발표</a:t>
            </a:r>
            <a:endParaRPr sz="1100" b="0" dirty="0">
              <a:solidFill>
                <a:srgbClr val="7F7F7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Malgun Gothic"/>
              </a:rPr>
              <a:t>팀 소개 — Build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Malgun Gothic"/>
              </a:rPr>
              <a:t>역할을 나눠 맡고, 코드 리뷰로 합쳤습니다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81328"/>
            <a:ext cx="11100816" cy="603504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280160" cy="60350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>
                <a:solidFill>
                  <a:srgbClr val="005AB4"/>
                </a:solidFill>
                <a:latin typeface="Malgun Gothic"/>
              </a:rPr>
              <a:t>팀명 의미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9601200" cy="60350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50" b="0">
                <a:solidFill>
                  <a:srgbClr val="262626"/>
                </a:solidFill>
                <a:latin typeface="Malgun Gothic"/>
              </a:rPr>
              <a:t>"동작하는 코드에서 끝나지 않고, 읽기 쉽고 유지보수하기 좋은 클린 코드를 만들자."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49424"/>
            <a:ext cx="64008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1">
                <a:solidFill>
                  <a:srgbClr val="005AB4"/>
                </a:solidFill>
                <a:latin typeface="Malgun Gothic"/>
              </a:rPr>
              <a:t>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4942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</a:rPr>
              <a:t>우상욱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49424"/>
            <a:ext cx="64008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1">
                <a:solidFill>
                  <a:srgbClr val="005AB4"/>
                </a:solidFill>
                <a:latin typeface="Malgun Gothic"/>
              </a:rPr>
              <a:t>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249424"/>
            <a:ext cx="457200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</a:rPr>
              <a:t>최종원 · 이수련 · 임지웅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61488"/>
            <a:ext cx="1417320" cy="40233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2761488"/>
            <a:ext cx="3154680" cy="40233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0" y="2761488"/>
            <a:ext cx="2423160" cy="40233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61488"/>
            <a:ext cx="1417320" cy="40233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담당자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761488"/>
            <a:ext cx="3154680" cy="40233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담당 모듈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61488"/>
            <a:ext cx="2423160" cy="40233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63824"/>
            <a:ext cx="141732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65960" y="3163824"/>
            <a:ext cx="315468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640" y="3163824"/>
            <a:ext cx="242316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163824"/>
            <a:ext cx="14173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03E7E"/>
                </a:solidFill>
                <a:latin typeface="Malgun Gothic"/>
              </a:rPr>
              <a:t>임지웅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3163824"/>
            <a:ext cx="299008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Malgun Gothic"/>
              </a:rPr>
              <a:t>Tokenizer (어휘 분석)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3163824"/>
            <a:ext cx="2276856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onsolas"/>
              </a:rPr>
              <a:t>src/assembler/Tokenizer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21024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65960" y="3621024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120640" y="3621024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621024"/>
            <a:ext cx="14173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03E7E"/>
                </a:solidFill>
                <a:latin typeface="Malgun Gothic"/>
              </a:rPr>
              <a:t>최종원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3621024"/>
            <a:ext cx="299008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Malgun Gothic"/>
              </a:rPr>
              <a:t>Parser (구문 분석)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3621024"/>
            <a:ext cx="2276856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onsolas"/>
              </a:rPr>
              <a:t>src/assembler/Parser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78224"/>
            <a:ext cx="141732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65960" y="4078224"/>
            <a:ext cx="315468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20640" y="4078224"/>
            <a:ext cx="242316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078224"/>
            <a:ext cx="14173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03E7E"/>
                </a:solidFill>
                <a:latin typeface="Malgun Gothic"/>
              </a:rPr>
              <a:t>이수련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5688" y="4078224"/>
            <a:ext cx="299008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Malgun Gothic"/>
              </a:rPr>
              <a:t>Checker (의미 분석)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4078224"/>
            <a:ext cx="2276856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onsolas"/>
              </a:rPr>
              <a:t>src/checker/Checker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35424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965960" y="4535424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120640" y="4535424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535424"/>
            <a:ext cx="14173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03E7E"/>
                </a:solidFill>
                <a:latin typeface="Malgun Gothic"/>
              </a:rPr>
              <a:t>우상욱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4535424"/>
            <a:ext cx="299008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Malgun Gothic"/>
              </a:rPr>
              <a:t>Executor (실행)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9" y="4535424"/>
            <a:ext cx="2276856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onsolas"/>
              </a:rPr>
              <a:t>src/executor/Executor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992624"/>
            <a:ext cx="141732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965960" y="4992624"/>
            <a:ext cx="315468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120640" y="4992624"/>
            <a:ext cx="2423160" cy="4572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4992624"/>
            <a:ext cx="14173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003E7E"/>
                </a:solidFill>
                <a:latin typeface="Malgun Gothic"/>
              </a:rPr>
              <a:t>최종원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75688" y="4992624"/>
            <a:ext cx="2990088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Malgun Gothic"/>
              </a:rPr>
              <a:t>Shell (REPL 통합)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79" y="4992624"/>
            <a:ext cx="2276856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onsolas"/>
              </a:rPr>
              <a:t>src/shell/Shell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26679" y="2761488"/>
            <a:ext cx="3922776" cy="40233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26679" y="2761488"/>
            <a:ext cx="3922776" cy="40233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그 외 역할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163824"/>
            <a:ext cx="3922776" cy="2286000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55279" y="3364992"/>
            <a:ext cx="10058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>
                <a:solidFill>
                  <a:srgbClr val="003E7E"/>
                </a:solidFill>
                <a:latin typeface="Malgun Gothic"/>
              </a:rPr>
              <a:t>임지웅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3364992"/>
            <a:ext cx="2596896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·  버그 수정 · GitHub 관리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877056"/>
            <a:ext cx="10058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>
                <a:solidFill>
                  <a:srgbClr val="003E7E"/>
                </a:solidFill>
                <a:latin typeface="Malgun Gothic"/>
              </a:rPr>
              <a:t>이수련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3877056"/>
            <a:ext cx="2596896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·  Interpreter 안정성 검증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4389120"/>
            <a:ext cx="10058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>
                <a:solidFill>
                  <a:srgbClr val="003E7E"/>
                </a:solidFill>
                <a:latin typeface="Malgun Gothic"/>
              </a:rPr>
              <a:t>우상욱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4389120"/>
            <a:ext cx="2596896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·  매뉴얼 작성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4901184"/>
            <a:ext cx="10058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>
                <a:solidFill>
                  <a:srgbClr val="003E7E"/>
                </a:solidFill>
                <a:latin typeface="Malgun Gothic"/>
              </a:rPr>
              <a:t>최종원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4901184"/>
            <a:ext cx="2596896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·  발표 자료 작성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Malgun Gothic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Malgun Gothic"/>
              </a:rPr>
              <a:t>CONTENTS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783080"/>
            <a:ext cx="10972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3400" b="1">
                <a:solidFill>
                  <a:srgbClr val="D4E3F4"/>
                </a:solidFill>
                <a:latin typeface="Malgun Gothic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947672"/>
            <a:ext cx="91440" cy="5394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783080"/>
            <a:ext cx="5943600" cy="52120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Malgun Gothic"/>
              </a:rPr>
              <a:t>팀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234793"/>
            <a:ext cx="8229600" cy="3648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Malgun Gothic"/>
              </a:rPr>
              <a:t>Build Clean · 역할 분담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972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3400" b="1">
                <a:solidFill>
                  <a:srgbClr val="D4E3F4"/>
                </a:solidFill>
                <a:latin typeface="Malgun Gothi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816352"/>
            <a:ext cx="91440" cy="5394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2651760"/>
            <a:ext cx="5943600" cy="52120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Malgun Gothic"/>
              </a:rPr>
              <a:t>기능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3103473"/>
            <a:ext cx="8229600" cy="3648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Malgun Gothic"/>
              </a:rPr>
              <a:t>파이프라인 · 컴포넌트 · 디자인 패턴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39"/>
            <a:ext cx="10972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3400" b="1">
                <a:solidFill>
                  <a:srgbClr val="D4E3F4"/>
                </a:solidFill>
                <a:latin typeface="Malgun Gothi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685031"/>
            <a:ext cx="91440" cy="5394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3520439"/>
            <a:ext cx="5943600" cy="52120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Malgun Gothic"/>
              </a:rPr>
              <a:t>Best Practice 사례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8" y="3972153"/>
            <a:ext cx="8229600" cy="3648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Malgun Gothic"/>
              </a:rPr>
              <a:t>TDD · Code Review · Refactoring · AI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0972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3400" b="1">
                <a:solidFill>
                  <a:srgbClr val="D4E3F4"/>
                </a:solidFill>
                <a:latin typeface="Malgun Gothic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4553712"/>
            <a:ext cx="91440" cy="5394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20" y="4389120"/>
            <a:ext cx="5943600" cy="52120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Malgun Gothic"/>
              </a:rPr>
              <a:t>Interpreter 시연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840833"/>
            <a:ext cx="8229600" cy="3648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Malgun Gothic"/>
              </a:rPr>
              <a:t>REPL · File · Debug 모드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10972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3400" b="1">
                <a:solidFill>
                  <a:srgbClr val="D4E3F4"/>
                </a:solidFill>
                <a:latin typeface="Malgun Gothic"/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5422392"/>
            <a:ext cx="91440" cy="5394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31720" y="5257800"/>
            <a:ext cx="5943600" cy="52120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Malgun Gothic"/>
              </a:rPr>
              <a:t>요약 &amp; 소감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0008" y="5709513"/>
            <a:ext cx="8229600" cy="3648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Malgun Gothic"/>
              </a:rPr>
              <a:t>프로젝트 정리와 팀 소감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3200400" cy="18288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0" b="1" i="0">
                <a:solidFill>
                  <a:srgbClr val="D4E3F4"/>
                </a:solidFill>
                <a:latin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5720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005AB4"/>
                </a:solidFill>
                <a:latin typeface="Malgun Gothic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240280"/>
            <a:ext cx="7772400" cy="9144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4000" b="1" i="0">
                <a:solidFill>
                  <a:srgbClr val="262626"/>
                </a:solidFill>
                <a:latin typeface="Malgun Gothic"/>
              </a:rPr>
              <a:t>기능 구현 소개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3337560"/>
            <a:ext cx="3886200" cy="0"/>
          </a:xfrm>
          <a:prstGeom prst="line">
            <a:avLst/>
          </a:prstGeom>
          <a:ln w="25400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80160" y="3785615"/>
            <a:ext cx="118872" cy="11887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3703320"/>
            <a:ext cx="731520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Malgun Gothic"/>
              </a:rPr>
              <a:t>파이프라인 5단계 구조와 컴포넌트별 역할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261104"/>
            <a:ext cx="118872" cy="11887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4178808"/>
            <a:ext cx="731520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Malgun Gothic"/>
              </a:rPr>
              <a:t>GoF 디자인 패턴 6종 — UML·코드로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전체 파이프라인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소스 코드 한 줄이 실행 결과로 바뀌는 과정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007" y="1600200"/>
            <a:ext cx="2011680" cy="12344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007" y="1728216"/>
            <a:ext cx="201168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Tokenizer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2130552"/>
            <a:ext cx="2011680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D4E3F4"/>
                </a:solidFill>
                <a:latin typeface="Malgun Gothic"/>
              </a:rPr>
              <a:t>어휘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" y="2441448"/>
            <a:ext cx="201168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문자열 →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9687" y="1600200"/>
            <a:ext cx="274320" cy="12344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005AB4"/>
                </a:solidFill>
                <a:latin typeface="Malgun Gothic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07" y="1600200"/>
            <a:ext cx="2011680" cy="12344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04007" y="1728216"/>
            <a:ext cx="201168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07" y="2130552"/>
            <a:ext cx="2011680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D4E3F4"/>
                </a:solidFill>
                <a:latin typeface="Malgun Gothic"/>
              </a:rPr>
              <a:t>구문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4007" y="2441448"/>
            <a:ext cx="201168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Token → 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5687" y="1600200"/>
            <a:ext cx="274320" cy="12344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005AB4"/>
                </a:solidFill>
                <a:latin typeface="Malgun Gothic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90007" y="1600200"/>
            <a:ext cx="2011680" cy="12344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90007" y="1728216"/>
            <a:ext cx="201168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0007" y="2130552"/>
            <a:ext cx="2011680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D4E3F4"/>
                </a:solidFill>
                <a:latin typeface="Malgun Gothic"/>
              </a:rPr>
              <a:t>의미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0007" y="2441448"/>
            <a:ext cx="201168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오류 사전 검사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1600200"/>
            <a:ext cx="274320" cy="12344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005AB4"/>
                </a:solidFill>
                <a:latin typeface="Malgun Gothic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76007" y="1600200"/>
            <a:ext cx="2011680" cy="12344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6007" y="1728216"/>
            <a:ext cx="201168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Optimizer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6007" y="2130552"/>
            <a:ext cx="2011680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D4E3F4"/>
                </a:solidFill>
                <a:latin typeface="Malgun Gothic"/>
              </a:rPr>
              <a:t>실행 전 최적화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6007" y="2441448"/>
            <a:ext cx="201168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AST 다듬기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7687" y="1600200"/>
            <a:ext cx="274320" cy="12344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005AB4"/>
                </a:solidFill>
                <a:latin typeface="Malgun Gothic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62007" y="1600200"/>
            <a:ext cx="2011680" cy="12344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62007" y="1728216"/>
            <a:ext cx="201168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Executor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2007" y="2130552"/>
            <a:ext cx="2011680" cy="29260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0" i="0">
                <a:solidFill>
                  <a:srgbClr val="D4E3F4"/>
                </a:solidFill>
                <a:latin typeface="Malgun Gothic"/>
              </a:rPr>
              <a:t>실행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2007" y="2441448"/>
            <a:ext cx="201168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AST 순회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007" y="3200400"/>
            <a:ext cx="457200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005AB4"/>
                </a:solidFill>
                <a:latin typeface="Malgun Gothic"/>
              </a:rPr>
              <a:t>예시로 따라가기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007" y="3529584"/>
            <a:ext cx="11155680" cy="457200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0887" y="3529584"/>
            <a:ext cx="10789919" cy="4572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onsolas"/>
              </a:rPr>
              <a:t>입력  소스 한 줄   →   var x = 2 + 3 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007" y="4151376"/>
            <a:ext cx="2011680" cy="1188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8007" y="4481703"/>
            <a:ext cx="2011680" cy="858393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토큰 분리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var · x · 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2 · + · 3 · 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9687" y="4151376"/>
            <a:ext cx="274320" cy="11887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7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4007" y="4151376"/>
            <a:ext cx="2011680" cy="1188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04007" y="4481703"/>
            <a:ext cx="2011680" cy="858393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트리 조립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VarDecl x 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  (2 + 3)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5687" y="4151376"/>
            <a:ext cx="274320" cy="11887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7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0007" y="4151376"/>
            <a:ext cx="2011680" cy="1188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90007" y="4481703"/>
            <a:ext cx="2011680" cy="858393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의미 검사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x 선언 OK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✓ 통과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1687" y="4151376"/>
            <a:ext cx="274320" cy="11887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7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6007" y="4151376"/>
            <a:ext cx="2011680" cy="1188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76007" y="4481703"/>
            <a:ext cx="2011680" cy="858393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상수 접기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VarDecl x 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 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7687" y="4151376"/>
            <a:ext cx="274320" cy="11887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7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62007" y="4151376"/>
            <a:ext cx="2011680" cy="1188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62007" y="4481703"/>
            <a:ext cx="2011680" cy="858393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실행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환경에 저장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x ←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007" y="5897880"/>
            <a:ext cx="11155680" cy="475488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9447" y="5897880"/>
            <a:ext cx="3657600" cy="4754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  Shell — 3-Mode 진입점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58487" y="5897880"/>
            <a:ext cx="7223759" cy="4754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>
                <a:solidFill>
                  <a:srgbClr val="D4E3F4"/>
                </a:solidFill>
                <a:latin typeface="Malgun Gothic"/>
              </a:rPr>
              <a:t>REPL (대화형)   |   File Mode   |   Debug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컴포넌트 ① — 프론트엔드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소스 코드를 읽어 '의미 있는 트리'로 만들기까지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1481328"/>
            <a:ext cx="1156716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" y="1481328"/>
            <a:ext cx="1783080" cy="159105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627632"/>
            <a:ext cx="1673352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Tokenizer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121408"/>
            <a:ext cx="1627632" cy="8412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소스 문자열을
토큰으로 분리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1136" y="1609344"/>
            <a:ext cx="5532120" cy="13350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31136" y="1908048"/>
            <a:ext cx="5532120" cy="103632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입력: 소스 문자열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E9178"/>
                </a:solidFill>
                <a:latin typeface="Consolas"/>
              </a:rPr>
              <a:t>  var x = 12;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출력: 의미 단위 토큰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VAR  IDENT(x)  =  NUMBER(12)  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1627632"/>
            <a:ext cx="3849624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1" i="0">
                <a:solidFill>
                  <a:srgbClr val="005AB4"/>
                </a:solidFill>
                <a:latin typeface="Malgun Gothic"/>
              </a:rPr>
              <a:t>핵심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1920240"/>
            <a:ext cx="3849624" cy="104241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예약어 표로 키워드/식별자 구분. 미지원 연산자 조기 감지.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3218688"/>
            <a:ext cx="1156716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0896" y="3218688"/>
            <a:ext cx="1783080" cy="15910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364992"/>
            <a:ext cx="1673352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858768"/>
            <a:ext cx="1627632" cy="8412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토큰을 문법대로
트리(AST)로 조립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1136" y="3346704"/>
            <a:ext cx="5532120" cy="13350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31136" y="3553206"/>
            <a:ext cx="5532120" cy="1128522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입력 토큰:  2 + 3 * 4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곱셈이 먼저 묶임(우선순위)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     ( + 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/     \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2     ( * ) → 3,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3364992"/>
            <a:ext cx="3849624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1" i="0">
                <a:solidFill>
                  <a:srgbClr val="156082"/>
                </a:solidFill>
                <a:latin typeface="Malgun Gothic"/>
              </a:rPr>
              <a:t>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3657600"/>
            <a:ext cx="3849624" cy="104241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재귀 하강 파싱. 우선순위·결합을 트리 모양으로 자동 표현.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4956048"/>
            <a:ext cx="1156716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0896" y="4956048"/>
            <a:ext cx="1783080" cy="159105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5102352"/>
            <a:ext cx="1673352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Checker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5596128"/>
            <a:ext cx="1627632" cy="8412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실행 전에
의미 오류 검사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31136" y="5084064"/>
            <a:ext cx="5532120" cy="13350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1136" y="5382767"/>
            <a:ext cx="5532120" cy="103632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입력:  print y;   (y 미선언)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스코프 스택에서 y 탐색 → 없음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출력: 실행 전 오류 보고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✗ [line 1] Undefined variable 'y'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5102352"/>
            <a:ext cx="3849624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1" i="0">
                <a:solidFill>
                  <a:srgbClr val="003E7E"/>
                </a:solidFill>
                <a:latin typeface="Malgun Gothic"/>
              </a:rPr>
              <a:t>핵심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4" y="5394960"/>
            <a:ext cx="3849624" cy="104241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스코프 스택으로 선언·중복 검사. 실행 없이 오류를 잡음.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컴포넌트 ② — 백엔드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다듬은 트리를 실제로 실행하고, 들여다보기까지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1481328"/>
            <a:ext cx="1156716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" y="1481328"/>
            <a:ext cx="1783080" cy="1591056"/>
          </a:xfrm>
          <a:prstGeom prst="rect">
            <a:avLst/>
          </a:prstGeom>
          <a:solidFill>
            <a:srgbClr val="7A3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627632"/>
            <a:ext cx="1673352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Optimizer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121408"/>
            <a:ext cx="1627632" cy="8412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실행 전 AST를
빠르고 안전하게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1136" y="1609344"/>
            <a:ext cx="5532120" cy="13350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31136" y="1908048"/>
            <a:ext cx="5532120" cy="103632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변하지 않는 계산은 미리 처리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1000 % 30   →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10   (실행 전에 계산해 둠)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변수 위치도 미리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1627632"/>
            <a:ext cx="3849624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1" i="0">
                <a:solidFill>
                  <a:srgbClr val="7A3E9D"/>
                </a:solidFill>
                <a:latin typeface="Malgun Gothic"/>
              </a:rPr>
              <a:t>핵심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1920240"/>
            <a:ext cx="3849624" cy="104241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Static Binding + Constant Folding. 켜고 끄기 자유(Strategy).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3218688"/>
            <a:ext cx="1156716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0896" y="3218688"/>
            <a:ext cx="1783080" cy="1591056"/>
          </a:xfrm>
          <a:prstGeom prst="rect">
            <a:avLst/>
          </a:prstGeom>
          <a:solidFill>
            <a:srgbClr val="C45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364992"/>
            <a:ext cx="1673352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Executor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858768"/>
            <a:ext cx="1627632" cy="8412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완성된 AST를
순회하며 실행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1136" y="3346704"/>
            <a:ext cx="5532120" cy="13350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31136" y="3645408"/>
            <a:ext cx="5532120" cy="103632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( + ) 노드를 방문하면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visitBinaryExpr → 2 + 3 계산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결과 반환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print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3364992"/>
            <a:ext cx="3849624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1" i="0">
                <a:solidFill>
                  <a:srgbClr val="C45212"/>
                </a:solidFill>
                <a:latin typeface="Malgun Gothic"/>
              </a:rPr>
              <a:t>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3657600"/>
            <a:ext cx="3849624" cy="104241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Visitor 패턴으로 노드별 실행. 변수는 Environment 체인 조회.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4956048"/>
            <a:ext cx="1156716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0896" y="4956048"/>
            <a:ext cx="1783080" cy="159105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5102352"/>
            <a:ext cx="1673352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Debugger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5596128"/>
            <a:ext cx="1627632" cy="84124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한 문장씩 멈춰
내부 상태 관찰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31136" y="5084064"/>
            <a:ext cx="5532120" cy="13350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1136" y="5382767"/>
            <a:ext cx="5532120" cy="103632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1100" dirty="0" err="1">
                <a:solidFill>
                  <a:srgbClr val="6A9955"/>
                </a:solidFill>
                <a:latin typeface="Consolas"/>
              </a:rPr>
              <a:t>디버그</a:t>
            </a:r>
            <a:r>
              <a:rPr sz="11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6A9955"/>
                </a:solidFill>
                <a:latin typeface="Consolas"/>
              </a:rPr>
              <a:t>명령</a:t>
            </a:r>
            <a:endParaRPr sz="110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FFC66D"/>
                </a:solidFill>
                <a:latin typeface="Consolas"/>
              </a:rPr>
              <a:t>  break 3   → 3번 </a:t>
            </a:r>
            <a:r>
              <a:rPr sz="1100" dirty="0" err="1">
                <a:solidFill>
                  <a:srgbClr val="FFC66D"/>
                </a:solidFill>
                <a:latin typeface="Consolas"/>
              </a:rPr>
              <a:t>줄에서</a:t>
            </a:r>
            <a:r>
              <a:rPr sz="1100" dirty="0">
                <a:solidFill>
                  <a:srgbClr val="FFC66D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FFC66D"/>
                </a:solidFill>
                <a:latin typeface="Consolas"/>
              </a:rPr>
              <a:t>정지</a:t>
            </a:r>
            <a:endParaRPr sz="1100" dirty="0">
              <a:solidFill>
                <a:srgbClr val="FFC66D"/>
              </a:solidFill>
              <a:latin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FFC66D"/>
                </a:solidFill>
                <a:latin typeface="Consolas"/>
              </a:rPr>
              <a:t>  watch x   → x 값 </a:t>
            </a:r>
            <a:r>
              <a:rPr sz="1100" dirty="0" err="1">
                <a:solidFill>
                  <a:srgbClr val="FFC66D"/>
                </a:solidFill>
                <a:latin typeface="Consolas"/>
              </a:rPr>
              <a:t>변화</a:t>
            </a:r>
            <a:r>
              <a:rPr sz="1100" dirty="0">
                <a:solidFill>
                  <a:srgbClr val="FFC66D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FFC66D"/>
                </a:solidFill>
                <a:latin typeface="Consolas"/>
              </a:rPr>
              <a:t>추적</a:t>
            </a:r>
            <a:endParaRPr sz="1100" dirty="0">
              <a:solidFill>
                <a:srgbClr val="FFC66D"/>
              </a:solidFill>
              <a:latin typeface="Consolas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D4D4D4"/>
                </a:solidFill>
                <a:latin typeface="Consolas"/>
              </a:rPr>
              <a:t>  step / next / continue / inspect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5102352"/>
            <a:ext cx="3849624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1" i="0">
                <a:solidFill>
                  <a:srgbClr val="005AB4"/>
                </a:solidFill>
                <a:latin typeface="Malgun Gothic"/>
              </a:rPr>
              <a:t>핵심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4" y="5394960"/>
            <a:ext cx="3849624" cy="104241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Executor 코드를 안 건드리고 Observer 훅으로 비침투 관찰.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적용된 디자인 패턴 ① — Visitor ·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AST 순회와 최적화 알고리즘 교체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109728" cy="3108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26464"/>
            <a:ext cx="539496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Malgun Gothic"/>
              </a:rPr>
              <a:t>Visitor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54406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Malgun Gothic"/>
              </a:rPr>
              <a:t>노드 종류별 동작을 if/dynamic_cast 없이 추가 — accept()가 자기 타입의 visit를 호출(이중 디스패치).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04288"/>
            <a:ext cx="557784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9144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50" b="1" i="0">
                <a:solidFill>
                  <a:srgbClr val="7F7F7F"/>
                </a:solidFill>
                <a:latin typeface="Malgun Gothic"/>
              </a:rPr>
              <a:t>UML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14016"/>
            <a:ext cx="21488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459736"/>
            <a:ext cx="214884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214884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Expr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" y="2852928"/>
            <a:ext cx="2002536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6384" y="2871215"/>
            <a:ext cx="2039112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Consolas"/>
              </a:rPr>
              <a:t>+accept(v)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414016"/>
            <a:ext cx="21488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2459736"/>
            <a:ext cx="214884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606040"/>
            <a:ext cx="214884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ExprVisitor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39312" y="2852928"/>
            <a:ext cx="2002536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21024" y="2871215"/>
            <a:ext cx="2039112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Consolas"/>
              </a:rPr>
              <a:t>+visitBinaryExpr()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21024"/>
            <a:ext cx="214884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621024"/>
            <a:ext cx="2148840" cy="51206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BinaryExpr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621024"/>
            <a:ext cx="214884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3621024"/>
            <a:ext cx="2148840" cy="51206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Executor / Checker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801368" y="3127248"/>
            <a:ext cx="0" cy="493776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636008" y="3127248"/>
            <a:ext cx="0" cy="493776"/>
          </a:xfrm>
          <a:prstGeom prst="line">
            <a:avLst/>
          </a:prstGeom>
          <a:ln w="15875">
            <a:solidFill>
              <a:srgbClr val="196B2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80360" y="2770632"/>
            <a:ext cx="685800" cy="0"/>
          </a:xfrm>
          <a:prstGeom prst="line">
            <a:avLst/>
          </a:prstGeom>
          <a:ln w="15875">
            <a:solidFill>
              <a:srgbClr val="7A3E9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4169663"/>
            <a:ext cx="49377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0">
                <a:solidFill>
                  <a:srgbClr val="7A3E9D"/>
                </a:solidFill>
                <a:latin typeface="Malgun Gothic"/>
              </a:rPr>
              <a:t>accept() → v.visitXxx(*this)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608576"/>
            <a:ext cx="5577840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608576"/>
            <a:ext cx="5486400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common/Expr.h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864608"/>
            <a:ext cx="5577840" cy="1527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5209032"/>
            <a:ext cx="5577840" cy="1182624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// common/Expr.h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569CD6"/>
                </a:solidFill>
                <a:latin typeface="Consolas"/>
              </a:rPr>
              <a:t>struct BinaryExpr : Expr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LiteralValue accept(ExprVisitor&amp; v)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66D"/>
                </a:solidFill>
                <a:latin typeface="Consolas"/>
              </a:rPr>
              <a:t>  { return v.visitBinaryExpr(*this); 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};   // 노드가 방문자에게 자신을 위임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463040"/>
            <a:ext cx="109728" cy="3108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64807" y="1426464"/>
            <a:ext cx="539496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Malgun Gothic"/>
              </a:rPr>
              <a:t>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7" y="1828800"/>
            <a:ext cx="54406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Malgun Gothic"/>
              </a:rPr>
              <a:t>최적화 알고리즘을 인터페이스 하나로 추상화 — 구현체만 갈아끼우면 동작이 바뀜.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304288"/>
            <a:ext cx="557784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79" y="2331720"/>
            <a:ext cx="9144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50" b="1" i="0">
                <a:solidFill>
                  <a:srgbClr val="7F7F7F"/>
                </a:solidFill>
                <a:latin typeface="Malgun Gothic"/>
              </a:rPr>
              <a:t>UML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2414016"/>
            <a:ext cx="21945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79" y="2459736"/>
            <a:ext cx="219456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606040"/>
            <a:ext cx="219456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IOptimizer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28431" y="2852928"/>
            <a:ext cx="2048257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010144" y="2871215"/>
            <a:ext cx="2084831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Consolas"/>
              </a:rPr>
              <a:t>+optimize(AST)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79" y="3639312"/>
            <a:ext cx="17830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55079" y="3639312"/>
            <a:ext cx="1783080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StaticBinding
Optimizer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56448" y="3639312"/>
            <a:ext cx="17830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56448" y="3639312"/>
            <a:ext cx="1783080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ConstFolding
Optimizer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57816" y="3639312"/>
            <a:ext cx="17830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57816" y="3639312"/>
            <a:ext cx="1783080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NoOp
Optimizer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7242048" y="3127248"/>
            <a:ext cx="1810511" cy="512064"/>
          </a:xfrm>
          <a:prstGeom prst="line">
            <a:avLst/>
          </a:prstGeom>
          <a:ln w="12700">
            <a:solidFill>
              <a:srgbClr val="26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052559" y="3127248"/>
            <a:ext cx="0" cy="512064"/>
          </a:xfrm>
          <a:prstGeom prst="line">
            <a:avLst/>
          </a:prstGeom>
          <a:ln w="12700">
            <a:solidFill>
              <a:srgbClr val="26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9052559" y="3127248"/>
            <a:ext cx="1801369" cy="512064"/>
          </a:xfrm>
          <a:prstGeom prst="line">
            <a:avLst/>
          </a:prstGeom>
          <a:ln w="12700">
            <a:solidFill>
              <a:srgbClr val="26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46520" y="4261104"/>
            <a:ext cx="521208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algun Gothic"/>
              </a:rPr>
              <a:t>Shell이 IOptimizer로만 다룸 → 구현 교체 자유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608576"/>
            <a:ext cx="5577840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09359" y="4608576"/>
            <a:ext cx="5486400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optimizer/IOptimizer.h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4864608"/>
            <a:ext cx="5577840" cy="1527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63640" y="5209032"/>
            <a:ext cx="5577840" cy="1182624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// optimizer/IOptimizer.h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569CD6"/>
                </a:solidFill>
                <a:latin typeface="Consolas"/>
              </a:rPr>
              <a:t>struct IOptimizer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virtual std::vector&lt;StmtPtr&gt;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66D"/>
                </a:solidFill>
                <a:latin typeface="Consolas"/>
              </a:rPr>
              <a:t>    optimize(std::vector&lt;StmtPtr&gt;) = 0;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};  // StaticBinding·ConstFolding가 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적용된 디자인 패턴 ② — Chain of Responsibility · Observer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최적화 단계 연결과 비침투 관찰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109728" cy="3108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26464"/>
            <a:ext cx="539496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Malgun Gothic"/>
              </a:rPr>
              <a:t>Chain of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54406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Malgun Gothic"/>
              </a:rPr>
              <a:t>여러 최적화를 정해진 순서로 차례차례 적용 — addOptimizer()로 단계를 자유롭게 확장.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04288"/>
            <a:ext cx="557784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9144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50" b="1" i="0">
                <a:solidFill>
                  <a:srgbClr val="7F7F7F"/>
                </a:solidFill>
                <a:latin typeface="Malgun Gothic"/>
              </a:rPr>
              <a:t>UML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15184"/>
            <a:ext cx="5303520" cy="23774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Malgun Gothic"/>
              </a:rPr>
              <a:t>Shell::optimizers_  (vector&lt;IOptimizer&gt;)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1078992" cy="56692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1078992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AST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64792" y="3438144"/>
            <a:ext cx="27432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039112" y="3154680"/>
            <a:ext cx="1078992" cy="56692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39112" y="3154680"/>
            <a:ext cx="1078992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Opt #1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18104" y="3438144"/>
            <a:ext cx="27432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92424" y="3154680"/>
            <a:ext cx="1078992" cy="56692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92424" y="3154680"/>
            <a:ext cx="1078992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Opt #2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71416" y="3438144"/>
            <a:ext cx="27432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745736" y="3154680"/>
            <a:ext cx="1078992" cy="566928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45736" y="3154680"/>
            <a:ext cx="1078992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13632"/>
            <a:ext cx="530352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Malgun Gothic"/>
              </a:rPr>
              <a:t>각 optimize()가 AST를 다음 단계로 전달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608576"/>
            <a:ext cx="5577840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608576"/>
            <a:ext cx="5486400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shell/Shell.cpp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64608"/>
            <a:ext cx="5577840" cy="1527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5276088"/>
            <a:ext cx="5577840" cy="1115568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shell/Shell.cpp  processLine()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69CD6"/>
                </a:solidFill>
                <a:latin typeface="Consolas"/>
              </a:rPr>
              <a:t>for (auto&amp; opt : optimizers_)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  stmts = opt-&gt;optimize(std::move(stmts));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등록된 순서대로 통과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463040"/>
            <a:ext cx="109728" cy="3108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7" y="1426464"/>
            <a:ext cx="539496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Malgun Gothic"/>
              </a:rPr>
              <a:t>Observer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1828800"/>
            <a:ext cx="54406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Malgun Gothic"/>
              </a:rPr>
              <a:t>디버거가 실행 과정을 관찰 — Executor 코드를 고치지 않고 훅으로 통지받음.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304288"/>
            <a:ext cx="557784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79" y="2331720"/>
            <a:ext cx="9144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50" b="1" i="0">
                <a:solidFill>
                  <a:srgbClr val="7F7F7F"/>
                </a:solidFill>
                <a:latin typeface="Malgun Gothic"/>
              </a:rPr>
              <a:t>UML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59" y="2414016"/>
            <a:ext cx="233172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59" y="2459736"/>
            <a:ext cx="233172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2606040"/>
            <a:ext cx="233172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DebugObserver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11112" y="2852928"/>
            <a:ext cx="2185416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92823" y="2871215"/>
            <a:ext cx="2221991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Consolas"/>
              </a:rPr>
              <a:t>+beforeStatement()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2505456"/>
            <a:ext cx="21945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C452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2505456"/>
            <a:ext cx="2194560" cy="5303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Executor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59" y="3639312"/>
            <a:ext cx="233172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59" y="3639312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Debugger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699248" y="3127248"/>
            <a:ext cx="0" cy="512064"/>
          </a:xfrm>
          <a:prstGeom prst="line">
            <a:avLst/>
          </a:prstGeom>
          <a:ln w="15875">
            <a:solidFill>
              <a:srgbClr val="196B2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869680" y="2770632"/>
            <a:ext cx="457200" cy="0"/>
          </a:xfrm>
          <a:prstGeom prst="line">
            <a:avLst/>
          </a:prstGeom>
          <a:ln w="15875">
            <a:solidFill>
              <a:srgbClr val="C452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805672" y="2505456"/>
            <a:ext cx="82296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0">
                <a:solidFill>
                  <a:srgbClr val="C45212"/>
                </a:solidFill>
                <a:latin typeface="Malgun Gothic"/>
              </a:rPr>
              <a:t>notifies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59" y="4224528"/>
            <a:ext cx="502920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Malgun Gothic"/>
              </a:rPr>
              <a:t>매 문장 실행 전 통지 (코드 비침투)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608576"/>
            <a:ext cx="5577840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9359" y="4608576"/>
            <a:ext cx="5486400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executor/IExecutor.h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4864608"/>
            <a:ext cx="5577840" cy="1527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63640" y="5209032"/>
            <a:ext cx="5577840" cy="1182624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// executor/IExecutor.h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569CD6"/>
                </a:solidFill>
                <a:latin typeface="Consolas"/>
              </a:rPr>
              <a:t>struct DebugObserver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66D"/>
                </a:solidFill>
                <a:latin typeface="Consolas"/>
              </a:rPr>
              <a:t>  virtual void beforeStatement(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const Stmt&amp;, int depth) = 0; };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// Executor가 매 Stmt 전에 호출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적용된 디자인 패턴 ③ — RAII · Dependency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예외 안전한 자원 복원과 테스트 가능한 결합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109728" cy="3108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26464"/>
            <a:ext cx="539496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Malgun Gothic"/>
              </a:rPr>
              <a:t>RAII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54406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Malgun Gothic"/>
              </a:rPr>
              <a:t>스코프 진입 시 환경을 바꾸고, 빠져나갈 때 자동 복원 — 예외에도 누수·오염 없음.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04288"/>
            <a:ext cx="557784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9144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50" b="1" i="0">
                <a:solidFill>
                  <a:srgbClr val="7F7F7F"/>
                </a:solidFill>
                <a:latin typeface="Malgun Gothic"/>
              </a:rPr>
              <a:t>UML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651760"/>
            <a:ext cx="2743200" cy="120700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2697479"/>
            <a:ext cx="27432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1" i="0">
                <a:solidFill>
                  <a:srgbClr val="262626"/>
                </a:solidFill>
                <a:latin typeface="Malgun Gothic"/>
              </a:rPr>
              <a:t>ScopeGuard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999232"/>
            <a:ext cx="2596896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29968" y="3054096"/>
            <a:ext cx="2377440" cy="7498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onsolas"/>
              </a:rPr>
              <a:t>- ref  : Environment*&amp;
- prev : Environment*
+ ~ScopeGuard()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493776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Malgun Gothic"/>
              </a:rPr>
              <a:t>생성 시 환경 교체  →  소멸 시 ref = prev 복원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61104"/>
            <a:ext cx="512064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196B24"/>
                </a:solidFill>
                <a:latin typeface="Malgun Gothic"/>
              </a:rPr>
              <a:t>예외가 나도 스택 unwinding이 소멸자 호출 → 항상 복원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608576"/>
            <a:ext cx="5577840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608576"/>
            <a:ext cx="5486400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executor/Executor.h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64608"/>
            <a:ext cx="5577840" cy="1527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209032"/>
            <a:ext cx="5577840" cy="1182624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// executor/Executor.h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569CD6"/>
                </a:solidFill>
                <a:latin typeface="Consolas"/>
              </a:rPr>
              <a:t>struct ScopeGuard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Environment*&amp; ref;  Environment* prev;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C66D"/>
                </a:solidFill>
                <a:latin typeface="Consolas"/>
              </a:rPr>
              <a:t>  ~ScopeGuard() { ref = prev; 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};  // 소멸자가 스코프를 되돌림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463040"/>
            <a:ext cx="109728" cy="3108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1426464"/>
            <a:ext cx="539496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Malgun Gothic"/>
              </a:rPr>
              <a:t>Dependency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1828800"/>
            <a:ext cx="54406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Malgun Gothic"/>
              </a:rPr>
              <a:t>Shell이 구체 클래스 대신 인터페이스를 생성자로 주입받음 — 테스트에서 Mock 교체.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304288"/>
            <a:ext cx="557784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79" y="2331720"/>
            <a:ext cx="91440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50" b="1" i="0">
                <a:solidFill>
                  <a:srgbClr val="7F7F7F"/>
                </a:solidFill>
                <a:latin typeface="Malgun Gothic"/>
              </a:rPr>
              <a:t>UML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971800"/>
            <a:ext cx="17830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971800"/>
            <a:ext cx="1783080" cy="56692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Shell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395728"/>
            <a:ext cx="1828800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0" y="2450592"/>
            <a:ext cx="182880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578608"/>
            <a:ext cx="1828800" cy="2011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ITokenizer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275320" y="2606040"/>
            <a:ext cx="1508760" cy="649224"/>
          </a:xfrm>
          <a:prstGeom prst="line">
            <a:avLst/>
          </a:prstGeom>
          <a:ln w="12700">
            <a:solidFill>
              <a:srgbClr val="00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784080" y="2889504"/>
            <a:ext cx="1828800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0" y="2944368"/>
            <a:ext cx="182880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072384"/>
            <a:ext cx="1828800" cy="2011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IParser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275320" y="3099816"/>
            <a:ext cx="1508760" cy="155448"/>
          </a:xfrm>
          <a:prstGeom prst="line">
            <a:avLst/>
          </a:prstGeom>
          <a:ln w="12700">
            <a:solidFill>
              <a:srgbClr val="00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784080" y="3383280"/>
            <a:ext cx="1828800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84080" y="3438144"/>
            <a:ext cx="182880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566160"/>
            <a:ext cx="1828800" cy="2011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IChecker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75320" y="3255264"/>
            <a:ext cx="1508760" cy="338328"/>
          </a:xfrm>
          <a:prstGeom prst="line">
            <a:avLst/>
          </a:prstGeom>
          <a:ln w="12700">
            <a:solidFill>
              <a:srgbClr val="00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784080" y="3877056"/>
            <a:ext cx="1828800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0" y="3931920"/>
            <a:ext cx="1828800" cy="1371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1">
                <a:solidFill>
                  <a:srgbClr val="595959"/>
                </a:solidFill>
                <a:latin typeface="Malgun Gothic"/>
              </a:rPr>
              <a:t>«interface»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059936"/>
            <a:ext cx="1828800" cy="2011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262626"/>
                </a:solidFill>
                <a:latin typeface="Malgun Gothic"/>
              </a:rPr>
              <a:t>IExecutor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75320" y="3255264"/>
            <a:ext cx="1508760" cy="832104"/>
          </a:xfrm>
          <a:prstGeom prst="line">
            <a:avLst/>
          </a:prstGeom>
          <a:ln w="12700">
            <a:solidFill>
              <a:srgbClr val="00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57031" y="2670048"/>
            <a:ext cx="1554480" cy="20116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algun Gothic"/>
              </a:rPr>
              <a:t>생성자 주입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114800"/>
            <a:ext cx="3108960" cy="21945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850" b="0" i="0">
                <a:solidFill>
                  <a:srgbClr val="196B24"/>
                </a:solidFill>
                <a:latin typeface="Malgun Gothic"/>
              </a:rPr>
              <a:t>테스트 시 Mock으로 교체 주입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608576"/>
            <a:ext cx="5577840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9359" y="4608576"/>
            <a:ext cx="5486400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shell/Shell.h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4864608"/>
            <a:ext cx="5577840" cy="1527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63640" y="5229987"/>
            <a:ext cx="5577840" cy="1161669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nsolas"/>
              </a:rPr>
              <a:t>// shell/Shell.h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nsolas"/>
              </a:rPr>
              <a:t>Shell(unique_ptr&lt;ITokenizer&gt; tok,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nsolas"/>
              </a:rPr>
              <a:t>      unique_ptr&lt;IParser&gt;    parser,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nsolas"/>
              </a:rPr>
              <a:t>      unique_ptr&lt;IChecker&gt;   checker,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FC66D"/>
                </a:solidFill>
                <a:latin typeface="Consolas"/>
              </a:rPr>
              <a:t>      unique_ptr&lt;IExecutor&gt;  exec);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3200400" cy="18288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0" b="1" i="0">
                <a:solidFill>
                  <a:srgbClr val="D4E3F4"/>
                </a:solidFill>
                <a:latin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5720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005AB4"/>
                </a:solidFill>
                <a:latin typeface="Malgun Gothic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240280"/>
            <a:ext cx="7772400" cy="9144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4000" b="1" i="0">
                <a:solidFill>
                  <a:srgbClr val="262626"/>
                </a:solidFill>
                <a:latin typeface="Malgun Gothic"/>
              </a:rPr>
              <a:t>BP 사례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3337560"/>
            <a:ext cx="3886200" cy="0"/>
          </a:xfrm>
          <a:prstGeom prst="line">
            <a:avLst/>
          </a:prstGeom>
          <a:ln w="25400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80160" y="3785615"/>
            <a:ext cx="118872" cy="11887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3703320"/>
            <a:ext cx="731520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Malgun Gothic"/>
              </a:rPr>
              <a:t>TDD — 테스트 주도 개발 사이클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261104"/>
            <a:ext cx="118872" cy="11887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4178808"/>
            <a:ext cx="731520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Malgun Gothic"/>
              </a:rPr>
              <a:t>Code Review — 리뷰로 잡은 결함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736592"/>
            <a:ext cx="118872" cy="11887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4725774"/>
            <a:ext cx="7315200" cy="24109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 i="0" dirty="0">
                <a:solidFill>
                  <a:srgbClr val="595959"/>
                </a:solidFill>
                <a:latin typeface="Malgun Gothic"/>
              </a:rPr>
              <a:t>Refactoring — </a:t>
            </a:r>
            <a:r>
              <a:rPr sz="1400" b="0" i="0" dirty="0" err="1">
                <a:solidFill>
                  <a:srgbClr val="595959"/>
                </a:solidFill>
                <a:latin typeface="Malgun Gothic"/>
              </a:rPr>
              <a:t>구조</a:t>
            </a:r>
            <a:r>
              <a:rPr sz="1400" b="0" i="0" dirty="0">
                <a:solidFill>
                  <a:srgbClr val="595959"/>
                </a:solidFill>
                <a:latin typeface="Malgun Gothic"/>
              </a:rPr>
              <a:t> </a:t>
            </a:r>
            <a:r>
              <a:rPr sz="1400" b="0" i="0" dirty="0" err="1">
                <a:solidFill>
                  <a:srgbClr val="595959"/>
                </a:solidFill>
                <a:latin typeface="Malgun Gothic"/>
              </a:rPr>
              <a:t>개선</a:t>
            </a:r>
            <a:endParaRPr sz="1400" b="0" i="0" dirty="0">
              <a:solidFill>
                <a:srgbClr val="595959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80160" y="5212079"/>
            <a:ext cx="118872" cy="118872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129783"/>
            <a:ext cx="731520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Malgun Gothic"/>
              </a:rPr>
              <a:t>AI 활용 — Claude Code 보조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테스트 케이스 누적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PR이 진행되며 테스트가 어떻게 쌓였는가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10881360" cy="4147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5532120"/>
            <a:ext cx="11100816" cy="914400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5596128"/>
            <a:ext cx="10972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005AB4"/>
                </a:solidFill>
                <a:latin typeface="Malgun Gothic"/>
              </a:rPr>
              <a:t>읽는 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577840"/>
            <a:ext cx="9784080" cy="8229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기능을 추가하면 테스트도 함께 늘어 31 → 396개로 증가.  PR #22에서 중복·Mock 테스트를 정리해 잠깐 줄었고,
PR #47 'Coverage Boost'에서 누락 케이스를 한꺼번에 보강.  꾸준한 우상향 = 테스트를 미루지 않았다는 증거.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라인 커버리지 추이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OpenCppCoverage 실측 — 새 기능과 테스트의 줄다리기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13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10881360" cy="41646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5532120"/>
            <a:ext cx="11100816" cy="914400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5596128"/>
            <a:ext cx="10972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005AB4"/>
                </a:solidFill>
                <a:latin typeface="Malgun Gothic"/>
              </a:rPr>
              <a:t>읽는 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577840"/>
            <a:ext cx="9784080" cy="8229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TDD로 구현하자마자 6.6% → 76.5%로 급등.  이후 새 기능(주황)을 넣을 때마다 잠깐 떨어지고,
전용 테스트 PR(초록)로 회복하는 '톱니 패턴'.  최종 93.1%로 안정 — 기능과 테스트가 균형을 이룸.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BP 사례 ① — TDD (Test-Driven Development)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테스트를 먼저 쓰고, 통과시키고, 다듬는 사이클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3246120" cy="1783080"/>
          </a:xfrm>
          <a:prstGeom prst="rect">
            <a:avLst/>
          </a:prstGeom>
          <a:solidFill>
            <a:srgbClr val="FBE9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324612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3246120" cy="4754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0008"/>
            <a:ext cx="324612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Malgun Gothic"/>
              </a:rPr>
              <a:t>실패하는 테스트 먼저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15768"/>
            <a:ext cx="324612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Malgun Gothic"/>
              </a:rPr>
              <a:t>기대 동작을 테스트로 표현
(아직 구현 없음 → 실패)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783080"/>
            <a:ext cx="640080" cy="17830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400" b="1" i="0">
                <a:solidFill>
                  <a:srgbClr val="595959"/>
                </a:solidFill>
                <a:latin typeface="Malgun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783080"/>
            <a:ext cx="3246120" cy="1783080"/>
          </a:xfrm>
          <a:prstGeom prst="rect">
            <a:avLst/>
          </a:prstGeom>
          <a:solidFill>
            <a:srgbClr val="E7F1E8"/>
          </a:solidFill>
          <a:ln w="1905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0" y="1783080"/>
            <a:ext cx="3246120" cy="475488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1783080"/>
            <a:ext cx="3246120" cy="4754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50008"/>
            <a:ext cx="324612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00" b="1" i="0">
                <a:solidFill>
                  <a:srgbClr val="196B24"/>
                </a:solidFill>
                <a:latin typeface="Malgun Gothic"/>
              </a:rPr>
              <a:t>통과하는 최소 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715768"/>
            <a:ext cx="324612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Malgun Gothic"/>
              </a:rPr>
              <a:t>테스트를 통과시킬
최소한의 코드만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783080"/>
            <a:ext cx="640080" cy="17830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400" b="1" i="0">
                <a:solidFill>
                  <a:srgbClr val="595959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783080"/>
            <a:ext cx="3246120" cy="1783080"/>
          </a:xfrm>
          <a:prstGeom prst="rect">
            <a:avLst/>
          </a:prstGeom>
          <a:solidFill>
            <a:srgbClr val="E7EFF8"/>
          </a:solidFill>
          <a:ln w="19050">
            <a:solidFill>
              <a:srgbClr val="00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41080" y="1783080"/>
            <a:ext cx="3246120" cy="47548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1783080"/>
            <a:ext cx="3246120" cy="47548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REFACTOR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350008"/>
            <a:ext cx="324612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00" b="1" i="0">
                <a:solidFill>
                  <a:srgbClr val="005AB4"/>
                </a:solidFill>
                <a:latin typeface="Malgun Gothic"/>
              </a:rPr>
              <a:t>동작 유지하며 구조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715768"/>
            <a:ext cx="324612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Malgun Gothic"/>
              </a:rPr>
              <a:t>중복 제거·일반화
(테스트가 안전망)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143000" y="1673352"/>
            <a:ext cx="10469880" cy="0"/>
          </a:xfrm>
          <a:prstGeom prst="line">
            <a:avLst/>
          </a:prstGeom>
          <a:ln w="19050">
            <a:solidFill>
              <a:srgbClr val="59595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54880" y="1325880"/>
            <a:ext cx="324612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Malgun Gothic"/>
              </a:rPr>
              <a:t>↺ 사이클 반복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77639"/>
            <a:ext cx="111008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977639"/>
            <a:ext cx="155448" cy="141732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069080"/>
            <a:ext cx="54864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005AB4"/>
                </a:solidFill>
                <a:latin typeface="Malgun Gothic"/>
              </a:rPr>
              <a:t>우리 프로젝트에선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89120"/>
            <a:ext cx="106984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algun Gothic"/>
              </a:rPr>
              <a:t>Parser를 TDD로: 테스트 32개를 먼저 작성(모두 실패) → 재귀 하강 파서 구현(통과) → parseBinaryLeft 헬퍼로 중복 제거(리팩터).
전 파이프라인(Tokenizer·Parser·Checker·Executor)에 동일 사이클 적용.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010912"/>
            <a:ext cx="2377440" cy="310896"/>
          </a:xfrm>
          <a:prstGeom prst="round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010912"/>
            <a:ext cx="237744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algun Gothic"/>
              </a:rPr>
              <a:t>최종 396 TC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5010912"/>
            <a:ext cx="2834640" cy="310896"/>
          </a:xfrm>
          <a:prstGeom prst="round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0" y="5010912"/>
            <a:ext cx="283464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algun Gothic"/>
              </a:rPr>
              <a:t>커버리지 93.1%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5010912"/>
            <a:ext cx="2834640" cy="310896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5010912"/>
            <a:ext cx="2834640" cy="31089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algun Gothic"/>
              </a:rPr>
              <a:t>4개 컴포넌트 전부 TDD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577840"/>
            <a:ext cx="11100816" cy="777240"/>
          </a:xfrm>
          <a:prstGeom prst="rect">
            <a:avLst/>
          </a:prstGeom>
          <a:solidFill>
            <a:srgbClr val="E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" y="5577840"/>
            <a:ext cx="731520" cy="7772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196B24"/>
                </a:solidFill>
                <a:latin typeface="Malgun Gothic"/>
              </a:rPr>
              <a:t>효과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5577840"/>
            <a:ext cx="10149840" cy="7772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테스트가 '구현 명세'이자 '회귀 안전망' 역할 → 리팩터링을 두려움 없이 진행.  버그를 실행 전에 잡아 디버깅 시간 단축.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9536" y="420624"/>
            <a:ext cx="1188720" cy="365760"/>
          </a:xfrm>
          <a:prstGeom prst="round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420624"/>
            <a:ext cx="11887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TDD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402336"/>
            <a:ext cx="146304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algun Gothic"/>
              </a:rPr>
              <a:t>PR #9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841248"/>
            <a:ext cx="107899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Malgun Gothic"/>
              </a:rPr>
              <a:t>Checker: dynamic_cast 분기 → Visitor 패턴 (OCP)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26464"/>
            <a:ext cx="11100816" cy="676656"/>
          </a:xfrm>
          <a:prstGeom prst="rect">
            <a:avLst/>
          </a:prstGeom>
          <a:solidFill>
            <a:srgbClr val="FBEEE4"/>
          </a:solidFill>
          <a:ln w="12700">
            <a:solidFill>
              <a:srgbClr val="C452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1481328"/>
            <a:ext cx="7315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C45212"/>
                </a:solidFill>
                <a:latin typeface="Malgun Gothic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737360"/>
            <a:ext cx="1088136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checkExpr() 안에서 dynamic_cast로 노드 타입을 일일이 분기 — 새 노드가 생길 때마다 이 함수를 고쳐야 함(OCP 위반).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Checker.cpp — dynamic_cast 분기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210305"/>
            <a:ext cx="5413248" cy="267843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void Checker::checkExpr(Expr&amp; e)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if (auto* v 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dynamic_cast&lt;VariableExpr*&gt;(&amp;e))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resolveVar(v-&gt;name);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} else if (auto* b 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dynamic_cast&lt;BinaryExpr*&gt;(&amp;e))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checkExpr(*b-&gt;left);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checkExpr(*b-&gt;right);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08888"/>
                </a:solidFill>
                <a:latin typeface="Consolas"/>
              </a:rPr>
              <a:t>  // 노드 추가될 때마다 수정 ← OCP 위반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solidFill>
            <a:srgbClr val="C45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4848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0568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Checker.cpp — Visitor 오버라이드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3210305"/>
            <a:ext cx="5413248" cy="267843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class Checker : private StmtVisitor,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            private ExprVisitor {…};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visitVariableExpr(VariableExpr&amp; e)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resolveVar(e.name);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visitBinaryExpr(BinaryExpr&amp; e)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e.left-&gt;accept(*this);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e.right-&gt;accept(*this);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FD69A"/>
                </a:solidFill>
                <a:latin typeface="Consolas"/>
              </a:rPr>
              <a:t>// 새 노드 = visitXxx 하나만 ← OCP 준수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822192"/>
            <a:ext cx="91440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6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98464"/>
            <a:ext cx="11100816" cy="420624"/>
          </a:xfrm>
          <a:prstGeom prst="rect">
            <a:avLst/>
          </a:prstGeom>
          <a:solidFill>
            <a:srgbClr val="E7F1E8"/>
          </a:solidFill>
          <a:ln w="1270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5998464"/>
            <a:ext cx="73152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196B24"/>
                </a:solidFill>
                <a:latin typeface="Malgun Gothic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998464"/>
            <a:ext cx="1014984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dynamic_cast 7회 제거 → accept(*this) 단일 디스패치 · 새 노드는 메서드 1개만 추가 · 기존 TC 전부 통과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Malgun Gothic"/>
              </a:rPr>
              <a:t>BP 사례 ② —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Malgun Gothic"/>
              </a:rPr>
              <a:t>리뷰가 병합 전에 잡아낸 메모리 안전성 버그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algun Gothic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91056"/>
            <a:ext cx="1110081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91056"/>
            <a:ext cx="251460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093976"/>
            <a:ext cx="25146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PR #32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42615"/>
            <a:ext cx="242316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Dangling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92224"/>
            <a:ext cx="82296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>
                <a:solidFill>
                  <a:srgbClr val="C45212"/>
                </a:solidFill>
                <a:latin typeface="Malgun Gothic"/>
              </a:rPr>
              <a:t>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66543"/>
            <a:ext cx="822960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</a:rPr>
              <a:t>optimize()는 최적화된 AST를 vector로 반환하는데, 그 반환값을 변수에 받지 않아
임시 객체가 그 줄에서 즉시 소멸 → raw 포인터가 해제된 힙(0xDDDDDDDD)을 가리킴.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916936"/>
            <a:ext cx="82296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>
                <a:solidFill>
                  <a:srgbClr val="196B24"/>
                </a:solidFill>
                <a:latin typeface="Malgun Gothic"/>
              </a:rPr>
              <a:t>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191256"/>
            <a:ext cx="82296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</a:rPr>
              <a:t>반환값을 변수에 저장해 AST 수명을 유지(동일 패턴 4곳 일괄 수정) → Debug 빌드 4개 TC CRASH 해소.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11100816" cy="1325880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059935"/>
            <a:ext cx="100584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1">
                <a:solidFill>
                  <a:srgbClr val="005AB4"/>
                </a:solidFill>
                <a:latin typeface="Malgun Gothic"/>
              </a:rPr>
              <a:t>왜 단위 테스트가 아닌 '리뷰'가 잡았나?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8"/>
            <a:ext cx="1060704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algun Gothic"/>
              </a:rPr>
              <a:t>해제된 메모리는 Release 빌드에서 우연히 살아있는 것처럼 보여 테스트가 통과하기도 함 → 숨은 버그로 남기 쉬움.
리뷰어가 '반환값을 안 받는다'는 코드 패턴을 읽어내 수명 문제를 병합 전에 포착.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77840"/>
            <a:ext cx="11100816" cy="777240"/>
          </a:xfrm>
          <a:prstGeom prst="rect">
            <a:avLst/>
          </a:prstGeom>
          <a:solidFill>
            <a:srgbClr val="E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5577840"/>
            <a:ext cx="731520" cy="7772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96B24"/>
                </a:solidFill>
                <a:latin typeface="Malgun Gothic"/>
              </a:rPr>
              <a:t>핵심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577840"/>
            <a:ext cx="10149840" cy="7772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테스트로도 안 드러나는 메모리 수명 버그를 코드 리뷰가 포착 — '돌아가는 코드'와 '올바른 코드'의 차이를 사람이 검증.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9536" y="420624"/>
            <a:ext cx="1188720" cy="365760"/>
          </a:xfrm>
          <a:prstGeom prst="roundRect">
            <a:avLst/>
          </a:prstGeom>
          <a:solidFill>
            <a:srgbClr val="7A3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420624"/>
            <a:ext cx="11887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402336"/>
            <a:ext cx="146304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algun Gothic"/>
              </a:rPr>
              <a:t>PR #32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841248"/>
            <a:ext cx="107899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Malgun Gothic"/>
              </a:rPr>
              <a:t>Dangling Pointer — optimize() 반환값을 버려 AST 즉시 소멸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26464"/>
            <a:ext cx="11100816" cy="676656"/>
          </a:xfrm>
          <a:prstGeom prst="rect">
            <a:avLst/>
          </a:prstGeom>
          <a:solidFill>
            <a:srgbClr val="FBEEE4"/>
          </a:solidFill>
          <a:ln w="12700">
            <a:solidFill>
              <a:srgbClr val="C452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1481328"/>
            <a:ext cx="7315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C45212"/>
                </a:solidFill>
                <a:latin typeface="Malgun Gothic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737360"/>
            <a:ext cx="1088136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optimize()는 새 AST를 vector로 반환하는데 그 값을 안 받아 임시 객체가 그 줄에서 파괴 → raw가 해제된 힙을 가리켜 4 TC CRASH.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StaticBinding_test.cpp — 수정 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20439"/>
            <a:ext cx="5413248" cy="2368296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08888"/>
                </a:solidFill>
                <a:latin typeface="Consolas"/>
              </a:rPr>
              <a:t>// 반환값을 받지 않음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C66D"/>
                </a:solidFill>
                <a:latin typeface="Consolas"/>
              </a:rPr>
              <a:t>optimizer_.optimize(std::move(stmts));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// stmts가 가리키던 AST는 이미 소멸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EXPECT_EQ(raw-&gt;distance, 0);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08888"/>
                </a:solidFill>
                <a:latin typeface="Consolas"/>
              </a:rPr>
              <a:t>// raw → 0xDDDDDDDD (해제된 힙)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08888"/>
                </a:solidFill>
                <a:latin typeface="Consolas"/>
              </a:rPr>
              <a:t>// 결과: 4 TC FAILED  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solidFill>
            <a:srgbClr val="C45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4848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0568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StaticBinding_test.cpp — 수정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3520439"/>
            <a:ext cx="5413248" cy="2368296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FD69A"/>
                </a:solidFill>
                <a:latin typeface="Consolas"/>
              </a:rPr>
              <a:t>// 반환값을 kept에 저장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C66D"/>
                </a:solidFill>
                <a:latin typeface="Consolas"/>
              </a:rPr>
              <a:t>auto kept 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C66D"/>
                </a:solidFill>
                <a:latin typeface="Consolas"/>
              </a:rPr>
              <a:t>    optimizer_.optimize(std::move(stmts));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// kept가 살아있는 동안 AST 유효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EXPECT_EQ(raw-&gt;distance, 0);   // OK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FD69A"/>
                </a:solidFill>
                <a:latin typeface="Consolas"/>
              </a:rPr>
              <a:t>// 결과: 250 / 250 PASSED 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822192"/>
            <a:ext cx="91440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6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98464"/>
            <a:ext cx="11100816" cy="420624"/>
          </a:xfrm>
          <a:prstGeom prst="rect">
            <a:avLst/>
          </a:prstGeom>
          <a:solidFill>
            <a:srgbClr val="E7F1E8"/>
          </a:solidFill>
          <a:ln w="1270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5998464"/>
            <a:ext cx="73152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196B24"/>
                </a:solidFill>
                <a:latin typeface="Malgun Gothic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998464"/>
            <a:ext cx="1014984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리뷰에서 '반환값 미저장' 지적 → 동일 패턴 4곳 일괄 수정 → MSVC Debug 0xDDDDDDDD 해소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Malgun Gothic"/>
              </a:rPr>
              <a:t>BP 사례 ③ — Refactoring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Malgun Gothic"/>
              </a:rPr>
              <a:t>동작은 그대로, 구조를 개선한 2가지 (뒤에서 PR #6·#27 코드 비교)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874519"/>
            <a:ext cx="111008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240280" cy="155448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2402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22402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PR #6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39112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00" b="1">
                <a:solidFill>
                  <a:srgbClr val="005AB4"/>
                </a:solidFill>
                <a:latin typeface="Malgun Gothic"/>
              </a:rPr>
              <a:t>무엇을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39112"/>
            <a:ext cx="4846320" cy="122529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logicalOr/equality/term 등 6개 메서드가 'while(match){...}' 패턴을 반복 → parseBinaryLeft() 헬퍼로 추출.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039112"/>
            <a:ext cx="6400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00" b="1">
                <a:solidFill>
                  <a:srgbClr val="196B24"/>
                </a:solidFill>
                <a:latin typeface="Malgun Gothic"/>
              </a:rPr>
              <a:t>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039112"/>
            <a:ext cx="2011680" cy="122529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Malgun Gothic"/>
              </a:rPr>
              <a:t>중복 제거 ·
연산자 추가 시 재사용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11008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2240280" cy="15544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2240280" cy="42062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SRP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70832"/>
            <a:ext cx="224028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PR #27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776472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00" b="1">
                <a:solidFill>
                  <a:srgbClr val="005AB4"/>
                </a:solidFill>
                <a:latin typeface="Malgun Gothic"/>
              </a:rPr>
              <a:t>무엇을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76472"/>
            <a:ext cx="4846320" cy="122529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visitCallExpr()가 호출 디스패치 + Array 내장 함수 실행을 모두 담당 → callBuiltinArray()로 책임 분리.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776472"/>
            <a:ext cx="64008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000" b="1">
                <a:solidFill>
                  <a:srgbClr val="196B24"/>
                </a:solidFill>
                <a:latin typeface="Malgun Gothic"/>
              </a:rPr>
              <a:t>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76472"/>
            <a:ext cx="2011680" cy="122529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Malgun Gothic"/>
              </a:rPr>
              <a:t>단일 책임 ·
내장 함수 확장 쉬움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100816" cy="777240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5577840"/>
            <a:ext cx="731520" cy="7772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005AB4"/>
                </a:solidFill>
                <a:latin typeface="Malgun Gothic"/>
              </a:rPr>
              <a:t>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577840"/>
            <a:ext cx="10149840" cy="7772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algun Gothic"/>
              </a:rPr>
              <a:t>DRY(중복 제거)·SRP(단일 책임) 원칙 적용 — 동작 변경 없이 구조 개선, 전체 TC 회귀 없음 확인.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9536" y="420624"/>
            <a:ext cx="1188720" cy="365760"/>
          </a:xfrm>
          <a:prstGeom prst="round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420624"/>
            <a:ext cx="11887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Refactor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402336"/>
            <a:ext cx="146304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algun Gothic"/>
              </a:rPr>
              <a:t>PR #6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841248"/>
            <a:ext cx="107899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Malgun Gothic"/>
              </a:rPr>
              <a:t>Parser: 6개 메서드의 중복 패턴 → parseBinaryLeft() 헬퍼 (DRY)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26464"/>
            <a:ext cx="11100816" cy="676656"/>
          </a:xfrm>
          <a:prstGeom prst="rect">
            <a:avLst/>
          </a:prstGeom>
          <a:solidFill>
            <a:srgbClr val="FBEEE4"/>
          </a:solidFill>
          <a:ln w="12700">
            <a:solidFill>
              <a:srgbClr val="C452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1481328"/>
            <a:ext cx="7315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C45212"/>
                </a:solidFill>
                <a:latin typeface="Malgun Gothic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737360"/>
            <a:ext cx="1088136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logicalOr/And·equality·comparison·term·factor 6개가 'while(match){op; rhs; 노드 생성}' 패턴을 그대로 반복.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Parser.cpp — 6곳 반복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302507"/>
            <a:ext cx="5413248" cy="2586228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ExprPtr Parser::logicalOr()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ExprPtr expr = logicalAnd();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while (match({OR}))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Token op = previous();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expr = make_unique&lt;LogicalExpr&gt;(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  move(expr), op, logicalAnd());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return expr;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08888"/>
                </a:solidFill>
                <a:latin typeface="Consolas"/>
              </a:rPr>
              <a:t>// equality/comparison/term/factor 동일 ×5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solidFill>
            <a:srgbClr val="C45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4848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0568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Parser.cpp — 헬퍼 1개로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3210305"/>
            <a:ext cx="5413248" cy="2678430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ExprPtr Parser::logicalOr()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return parseBinaryLeft(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    [this]{ return logicalAnd(); }, {OR});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FD69A"/>
                </a:solidFill>
                <a:latin typeface="Consolas"/>
              </a:rPr>
              <a:t>// 공통 패턴을 헬퍼로 추출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ExprPtr Parser::parseBinaryLeft(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  NextFn next, TokenList ops)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auto e = next();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while (matchAny(ops)) { … 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return e;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822192"/>
            <a:ext cx="91440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6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98464"/>
            <a:ext cx="11100816" cy="420624"/>
          </a:xfrm>
          <a:prstGeom prst="rect">
            <a:avLst/>
          </a:prstGeom>
          <a:solidFill>
            <a:srgbClr val="E7F1E8"/>
          </a:solidFill>
          <a:ln w="1270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5998464"/>
            <a:ext cx="73152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196B24"/>
                </a:solidFill>
                <a:latin typeface="Malgun Gothic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998464"/>
            <a:ext cx="1014984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6개 메서드 → 각 1줄 위임 · 동작 변경 없음 · 이후 연산자 추가 시 parseBinaryLeft 재사용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9536" y="420624"/>
            <a:ext cx="1188720" cy="365760"/>
          </a:xfrm>
          <a:prstGeom prst="round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420624"/>
            <a:ext cx="11887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Refactor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402336"/>
            <a:ext cx="146304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Malgun Gothic"/>
              </a:rPr>
              <a:t>PR #27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841248"/>
            <a:ext cx="10789920" cy="3657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Malgun Gothic"/>
              </a:rPr>
              <a:t>Executor: visitCallExpr 책임 분리 → callBuiltinArray() (SRP)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26464"/>
            <a:ext cx="11100816" cy="676656"/>
          </a:xfrm>
          <a:prstGeom prst="rect">
            <a:avLst/>
          </a:prstGeom>
          <a:solidFill>
            <a:srgbClr val="FBEEE4"/>
          </a:solidFill>
          <a:ln w="12700">
            <a:solidFill>
              <a:srgbClr val="C452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1481328"/>
            <a:ext cx="7315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C45212"/>
                </a:solidFill>
                <a:latin typeface="Malgun Gothic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737360"/>
            <a:ext cx="10881360" cy="34747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visitCallExpr()가 '어떤 함수를 호출할지 결정'과 'Array 내장 함수 실제 실행'을 한 메서드에서 모두 담당 → 책임 과다.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Executor.cpp — visitCallExpr 내부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344418"/>
            <a:ext cx="5413248" cy="2544318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69CD6"/>
                </a:solidFill>
                <a:latin typeface="Consolas"/>
              </a:rPr>
              <a:t>LiteralValue visitCallExpr(CallExpr&amp; e)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  if (name == "Array")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  if (e.arguments.size() != 1)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    throw ...("1 argument");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  auto v = evaluate(*e.arguments[0]);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  // 정수 검증 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  return make_shared&lt;LiteralArray&gt;(n);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  }   // 실행 로직이 뒤섞임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solidFill>
            <a:srgbClr val="C45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BEFORE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4848" y="2304288"/>
            <a:ext cx="5413248" cy="2560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0568" y="2304288"/>
            <a:ext cx="5321808" cy="256032"/>
          </a:xfrm>
          <a:prstGeom prst="rect">
            <a:avLst/>
          </a:prstGeom>
          <a:noFill/>
        </p:spPr>
        <p:txBody>
          <a:bodyPr wrap="none" lIns="12700" tIns="12700" rIns="12700" bIns="12700" anchor="ctr">
            <a:spAutoFit/>
          </a:bodyPr>
          <a:lstStyle/>
          <a:p>
            <a:pPr algn="l"/>
            <a:r>
              <a:rPr sz="900" b="1" i="0">
                <a:solidFill>
                  <a:srgbClr val="D4D4D4"/>
                </a:solidFill>
                <a:latin typeface="Consolas"/>
              </a:rPr>
              <a:t>  Executor.cpp — 책임 분리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2560320"/>
            <a:ext cx="5413248" cy="3328415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3344418"/>
            <a:ext cx="5413248" cy="2544318"/>
          </a:xfrm>
          <a:prstGeom prst="rect">
            <a:avLst/>
          </a:prstGeom>
          <a:noFill/>
        </p:spPr>
        <p:txBody>
          <a:bodyPr wrap="none" lIns="63500" tIns="12700" rIns="25400" bIns="127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69CD6"/>
                </a:solidFill>
                <a:latin typeface="Consolas"/>
              </a:rPr>
              <a:t>LiteralValue visitCallExpr(CallExpr&amp; e)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FFC66D"/>
                </a:solidFill>
                <a:latin typeface="Consolas"/>
              </a:rPr>
              <a:t>  if (name == "Array")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FD69A"/>
                </a:solidFill>
                <a:latin typeface="Consolas"/>
              </a:rPr>
              <a:t>    return callBuiltinArray(e);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</a:rPr>
              <a:t>// 내장 함수 실행은 별도 메서드로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69CD6"/>
                </a:solidFill>
                <a:latin typeface="Consolas"/>
              </a:rPr>
              <a:t>LiteralValue callBuiltinArray(CallExpr&amp; e) 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  // 인자 검증 + LiteralArray 생성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73967" y="2340864"/>
            <a:ext cx="969264" cy="2377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822192"/>
            <a:ext cx="91440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6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98464"/>
            <a:ext cx="11100816" cy="420624"/>
          </a:xfrm>
          <a:prstGeom prst="rect">
            <a:avLst/>
          </a:prstGeom>
          <a:solidFill>
            <a:srgbClr val="E7F1E8"/>
          </a:solidFill>
          <a:ln w="1270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5998464"/>
            <a:ext cx="73152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196B24"/>
                </a:solidFill>
                <a:latin typeface="Malgun Gothic"/>
              </a:rPr>
              <a:t>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998464"/>
            <a:ext cx="10149840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visitCallExpr은 '디스패치'만, 내장 함수 실행은 callBuiltinArray로 분리 · 향후 내장 함수 확장 시 패턴 재사용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Malgun Gothic"/>
              </a:rPr>
              <a:t>BP 사례 ④ — AI 활용 (Claude 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Malgun Gothic"/>
              </a:rPr>
              <a:t>커버리지 분석 → 누락 식별 → TC 초안 → 팀 리뷰 후 반영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4572000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Malgun Gothic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17904"/>
            <a:ext cx="2615184" cy="128016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19"/>
            <a:ext cx="2615184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커버리지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615184" cy="6035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D4E3F4"/>
                </a:solidFill>
                <a:latin typeface="Malgun Gothic"/>
              </a:rPr>
              <a:t>OpenCppCoverage
리포트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1517904"/>
            <a:ext cx="256032" cy="12801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8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9856" y="1517904"/>
            <a:ext cx="2615184" cy="128016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1645919"/>
            <a:ext cx="2615184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누락 케이스 식별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103120"/>
            <a:ext cx="2615184" cy="6035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D4E3F4"/>
                </a:solidFill>
                <a:latin typeface="Malgun Gothic"/>
              </a:rPr>
              <a:t>미달 브랜치
목록 도출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517904"/>
            <a:ext cx="256032" cy="12801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8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1" y="1517904"/>
            <a:ext cx="2615184" cy="128016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1" y="1645919"/>
            <a:ext cx="2615184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AI TC 초안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1" y="2103120"/>
            <a:ext cx="2615184" cy="6035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D4E3F4"/>
                </a:solidFill>
                <a:latin typeface="Malgun Gothic"/>
              </a:rPr>
              <a:t>Claude Code로
테스트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5" y="1517904"/>
            <a:ext cx="256032" cy="12801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800" b="1" i="0">
                <a:solidFill>
                  <a:srgbClr val="005AB4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7" y="1517904"/>
            <a:ext cx="2615184" cy="128016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2287" y="1645919"/>
            <a:ext cx="2615184" cy="4206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팀 리뷰 &amp;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7" y="2103120"/>
            <a:ext cx="2615184" cy="603504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ctr"/>
            <a:r>
              <a:rPr sz="1050" b="0" i="0">
                <a:solidFill>
                  <a:srgbClr val="D4E3F4"/>
                </a:solidFill>
                <a:latin typeface="Malgun Gothic"/>
              </a:rPr>
              <a:t>선택적 반영
(자동 머지 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72384"/>
            <a:ext cx="6675120" cy="38404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072384"/>
            <a:ext cx="128016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  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072384"/>
            <a:ext cx="5212080" cy="3840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활용 내용 /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56432"/>
            <a:ext cx="6675120" cy="658368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3456432"/>
            <a:ext cx="1280160" cy="6583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005AB4"/>
                </a:solidFill>
                <a:latin typeface="Malgun Gothic"/>
              </a:rPr>
              <a:t>PR #40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56432"/>
            <a:ext cx="5212080" cy="6583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Debugger·FileMode·Shell 신규 17개 TC 작성 보조  (303→320)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14800"/>
            <a:ext cx="6675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114800"/>
            <a:ext cx="1280160" cy="6583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005AB4"/>
                </a:solidFill>
                <a:latin typeface="Malgun Gothic"/>
              </a:rPr>
              <a:t>PR #47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114800"/>
            <a:ext cx="5212080" cy="6583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커버리지 분석 후 누락 5개 파일 TC 초안 생성  (326→379)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73168"/>
            <a:ext cx="6675120" cy="658368"/>
          </a:xfrm>
          <a:prstGeom prst="rect">
            <a:avLst/>
          </a:prstGeom>
          <a:solidFill>
            <a:srgbClr val="E7EFF8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4773168"/>
            <a:ext cx="1280160" cy="6583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005AB4"/>
                </a:solidFill>
                <a:latin typeface="Malgun Gothic"/>
              </a:rPr>
              <a:t>PR #32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773168"/>
            <a:ext cx="5212080" cy="6583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Malgun Gothic"/>
              </a:rPr>
              <a:t>dangling pointer 패턴 탐지 및 수정 방향 제안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3072384"/>
            <a:ext cx="4197096" cy="2359152"/>
          </a:xfrm>
          <a:prstGeom prst="rect">
            <a:avLst/>
          </a:prstGeom>
          <a:solidFill>
            <a:srgbClr val="E7F1E8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53528" y="3200400"/>
            <a:ext cx="3831335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96B24"/>
                </a:solidFill>
                <a:latin typeface="Malgun Gothic"/>
              </a:rPr>
              <a:t>AI 활용 핵심 원칙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0104" y="3675887"/>
            <a:ext cx="2286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7848" y="3675887"/>
            <a:ext cx="3520439" cy="4572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80" b="0" i="0">
                <a:solidFill>
                  <a:srgbClr val="262626"/>
                </a:solidFill>
                <a:latin typeface="Malgun Gothic"/>
              </a:rPr>
              <a:t>AI는 초안 보조 도구 — 최종 결정은 팀원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0104" y="4114800"/>
            <a:ext cx="2286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7848" y="4114800"/>
            <a:ext cx="3520439" cy="4572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80" b="0" i="0">
                <a:solidFill>
                  <a:srgbClr val="262626"/>
                </a:solidFill>
                <a:latin typeface="Malgun Gothic"/>
              </a:rPr>
              <a:t>생성 코드는 반드시 팀 리뷰 후 선택 반영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0104" y="4553712"/>
            <a:ext cx="2286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848" y="4553712"/>
            <a:ext cx="3520439" cy="4572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80" b="0" i="0">
                <a:solidFill>
                  <a:srgbClr val="262626"/>
                </a:solidFill>
                <a:latin typeface="Malgun Gothic"/>
              </a:rPr>
              <a:t>PR description에 AI 사용 투명하게 명시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0104" y="4992624"/>
            <a:ext cx="22860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4992624"/>
            <a:ext cx="3520439" cy="4572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80" b="0" i="0">
                <a:solidFill>
                  <a:srgbClr val="262626"/>
                </a:solidFill>
                <a:latin typeface="Malgun Gothic"/>
              </a:rPr>
              <a:t>수치 목표가 아닌 '누락 케이스 발굴'에 집중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632704"/>
            <a:ext cx="11100816" cy="713232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" y="5632704"/>
            <a:ext cx="731520" cy="71323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i="0">
                <a:solidFill>
                  <a:srgbClr val="005AB4"/>
                </a:solidFill>
                <a:latin typeface="Malgun Gothic"/>
              </a:rPr>
              <a:t>핵심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632704"/>
            <a:ext cx="10149840" cy="71323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AI를 '자동 생성기'가 아닌 '리뷰 대상 초안 작성자'로 활용 — 사람의 판단과 책임은 그대로 유지.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55448" cy="54864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292608"/>
            <a:ext cx="1069848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Malgun Gothic"/>
              </a:rPr>
              <a:t>Interpreter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932688"/>
            <a:ext cx="106984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Malgun Gothic"/>
              </a:rPr>
              <a:t>직접 실행해 보겠습니다 — REPL · File · Debug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80160"/>
            <a:ext cx="11100816" cy="0"/>
          </a:xfrm>
          <a:prstGeom prst="line">
            <a:avLst/>
          </a:prstGeom>
          <a:ln w="22225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517904"/>
            <a:ext cx="3611880" cy="768096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91056"/>
            <a:ext cx="3246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REPL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3246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0">
                <a:solidFill>
                  <a:srgbClr val="D4E3F4"/>
                </a:solidFill>
                <a:latin typeface="Consolas"/>
              </a:rPr>
              <a:t>대화형 한 줄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517904"/>
            <a:ext cx="3611880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91056"/>
            <a:ext cx="3246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File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56816"/>
            <a:ext cx="3246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0">
                <a:solidFill>
                  <a:srgbClr val="D4E3F4"/>
                </a:solidFill>
                <a:latin typeface="Consolas"/>
              </a:rPr>
              <a:t>factory run &lt;file&gt;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517904"/>
            <a:ext cx="3611880" cy="768096"/>
          </a:xfrm>
          <a:prstGeom prst="rect">
            <a:avLst/>
          </a:prstGeom>
          <a:solidFill>
            <a:srgbClr val="7A3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5" y="1591056"/>
            <a:ext cx="3246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Debug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1956816"/>
            <a:ext cx="3246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0">
                <a:solidFill>
                  <a:srgbClr val="D4E3F4"/>
                </a:solidFill>
                <a:latin typeface="Consolas"/>
              </a:rPr>
              <a:t>factory debug &lt;file&gt;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42032"/>
            <a:ext cx="11100816" cy="32461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542032"/>
            <a:ext cx="11100816" cy="31089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542032"/>
            <a:ext cx="7315200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>
                <a:solidFill>
                  <a:srgbClr val="D4D4D4"/>
                </a:solidFill>
                <a:latin typeface="Consolas"/>
              </a:rPr>
              <a:t>  Build Clean — CRA Interpreter  (예시)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944368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 1) File Mode — 소스 파일을 한 번에 실행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$ factory run example.txt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15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 2) REPL — 한 줄씩 대화형 실행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$ factory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&gt; var x = 2 + 3;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&gt; print x;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5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 3) Debug Mode — 한 문장씩 멈추며 관찰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$ factory debug example.txt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FC66D"/>
                </a:solidFill>
                <a:latin typeface="Consolas"/>
              </a:rPr>
              <a:t>  (dbg) break 3   /  watch x   /  step  /  continue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[line 3] x = 5   (정지)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Malgun Gothic"/>
              </a:rPr>
              <a:t>※ </a:t>
            </a:r>
            <a:r>
              <a:rPr sz="1100" b="0" dirty="0" err="1">
                <a:solidFill>
                  <a:srgbClr val="595959"/>
                </a:solidFill>
                <a:latin typeface="Malgun Gothic"/>
              </a:rPr>
              <a:t>실제</a:t>
            </a:r>
            <a:r>
              <a:rPr sz="1100" b="0" dirty="0">
                <a:solidFill>
                  <a:srgbClr val="595959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Malgun Gothic"/>
              </a:rPr>
              <a:t>시연으로</a:t>
            </a:r>
            <a:r>
              <a:rPr sz="1100" b="0" dirty="0">
                <a:solidFill>
                  <a:srgbClr val="595959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Malgun Gothic"/>
              </a:rPr>
              <a:t>대체합니다</a:t>
            </a:r>
            <a:r>
              <a:rPr sz="1100" b="0" dirty="0">
                <a:solidFill>
                  <a:srgbClr val="595959"/>
                </a:solidFill>
                <a:latin typeface="Malgun Gothic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73952"/>
            <a:ext cx="11100816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algun Gothic"/>
              </a:rPr>
              <a:t>CRA Interpreter — Build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92240"/>
            <a:ext cx="768096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54864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400" b="1" i="0">
                <a:solidFill>
                  <a:srgbClr val="005AB4"/>
                </a:solidFill>
                <a:latin typeface="Malgun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70432"/>
            <a:ext cx="10515600" cy="7315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3000" b="1" i="0">
                <a:solidFill>
                  <a:srgbClr val="262626"/>
                </a:solidFill>
                <a:latin typeface="Malgun Gothic"/>
              </a:rPr>
              <a:t>기능 구현 · BP 사례 요약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2688" y="1993392"/>
            <a:ext cx="4553712" cy="0"/>
          </a:xfrm>
          <a:prstGeom prst="line">
            <a:avLst/>
          </a:prstGeom>
          <a:ln w="25400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2331720"/>
            <a:ext cx="5349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331720"/>
            <a:ext cx="5349240" cy="512064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331720"/>
            <a:ext cx="4983479" cy="51206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2. 기능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27432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005AB4"/>
                </a:solidFill>
                <a:latin typeface="Malgun Gothic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044952"/>
            <a:ext cx="4526279" cy="5303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5단계 파이프라인: Tokenizer→…→Executor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98164"/>
            <a:ext cx="27432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005AB4"/>
                </a:solidFill>
                <a:latin typeface="Malgun Gothic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8164"/>
            <a:ext cx="4526279" cy="5303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GoF 패턴 6종 + UML·코드로 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331720"/>
            <a:ext cx="5349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37960" y="2331720"/>
            <a:ext cx="5349240" cy="512064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2331720"/>
            <a:ext cx="4983479" cy="51206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3. BP 사례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44952"/>
            <a:ext cx="27432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3044952"/>
            <a:ext cx="4526279" cy="5303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TDD: Red→Green→Refactor (커버리지 93%)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598164"/>
            <a:ext cx="27432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598164"/>
            <a:ext cx="4526279" cy="5303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Malgun Gothic"/>
              </a:rPr>
              <a:t>Code Review: 메모리·코드 분리 결함 차단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151376"/>
            <a:ext cx="27432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4319089"/>
            <a:ext cx="4526279" cy="1949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Malgun Gothic"/>
              </a:rPr>
              <a:t>Refactoring: DRY·SRP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704588"/>
            <a:ext cx="274320" cy="502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196B24"/>
                </a:solidFill>
                <a:latin typeface="Malgun Gothic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4704588"/>
            <a:ext cx="4526279" cy="53035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Malgun Gothic"/>
              </a:rPr>
              <a:t>AI </a:t>
            </a:r>
            <a:r>
              <a:rPr sz="1100" b="0" i="0" dirty="0" err="1">
                <a:solidFill>
                  <a:srgbClr val="262626"/>
                </a:solidFill>
                <a:latin typeface="Malgun Gothic"/>
              </a:rPr>
              <a:t>활용</a:t>
            </a:r>
            <a:r>
              <a:rPr sz="1100" b="0" i="0" dirty="0">
                <a:solidFill>
                  <a:srgbClr val="262626"/>
                </a:solidFill>
                <a:latin typeface="Malgun Gothic"/>
              </a:rPr>
              <a:t>: </a:t>
            </a:r>
            <a:r>
              <a:rPr sz="1100" b="0" i="0" dirty="0" err="1">
                <a:solidFill>
                  <a:srgbClr val="262626"/>
                </a:solidFill>
                <a:latin typeface="Malgun Gothic"/>
              </a:rPr>
              <a:t>누락</a:t>
            </a:r>
            <a:r>
              <a:rPr sz="1100" b="0" i="0" dirty="0">
                <a:solidFill>
                  <a:srgbClr val="262626"/>
                </a:solidFill>
                <a:latin typeface="Malgun Gothic"/>
              </a:rPr>
              <a:t> TC </a:t>
            </a:r>
            <a:r>
              <a:rPr sz="1100" b="0" i="0" dirty="0" err="1">
                <a:solidFill>
                  <a:srgbClr val="262626"/>
                </a:solidFill>
                <a:latin typeface="Malgun Gothic"/>
              </a:rPr>
              <a:t>초안</a:t>
            </a:r>
            <a:r>
              <a:rPr sz="1100" b="0" i="0" dirty="0">
                <a:solidFill>
                  <a:srgbClr val="262626"/>
                </a:solidFill>
                <a:latin typeface="Malgun Gothic"/>
              </a:rPr>
              <a:t> → 팀 </a:t>
            </a:r>
            <a:r>
              <a:rPr sz="1100" b="0" i="0" dirty="0" err="1">
                <a:solidFill>
                  <a:srgbClr val="262626"/>
                </a:solidFill>
                <a:latin typeface="Malgun Gothic"/>
              </a:rPr>
              <a:t>리뷰</a:t>
            </a:r>
            <a:r>
              <a:rPr sz="1100" b="0" i="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262626"/>
                </a:solidFill>
                <a:latin typeface="Malgun Gothic"/>
              </a:rPr>
              <a:t>반영</a:t>
            </a:r>
            <a:endParaRPr sz="1100" b="0" i="0" dirty="0">
              <a:solidFill>
                <a:srgbClr val="262626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5486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05AB4"/>
                </a:solidFill>
                <a:latin typeface="Malgun Gothic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97280"/>
            <a:ext cx="105156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Malgun Gothic"/>
              </a:rPr>
              <a:t>프로젝트를 마치며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2688" y="1901952"/>
            <a:ext cx="4553712" cy="0"/>
          </a:xfrm>
          <a:prstGeom prst="line">
            <a:avLst/>
          </a:prstGeom>
          <a:ln w="25400">
            <a:solidFill>
              <a:srgbClr val="005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2148840"/>
            <a:ext cx="10561320" cy="3291840"/>
          </a:xfrm>
          <a:prstGeom prst="rect">
            <a:avLst/>
          </a:prstGeom>
          <a:solidFill>
            <a:srgbClr val="E7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100126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50" dirty="0" err="1">
                <a:solidFill>
                  <a:srgbClr val="262626"/>
                </a:solidFill>
                <a:latin typeface="Malgun Gothic"/>
              </a:rPr>
              <a:t>이번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프로젝트를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통해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저희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Build Clean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팀은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처음으로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TDD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방식의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개발을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본격적으로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경험했습니다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.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테스트를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먼저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작성하고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기능을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하나씩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구현해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나가면서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,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기존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코드를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크게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수정하지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않고도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지금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만드는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기능에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집중할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수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있었고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,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기능을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추가하거나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변경할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때마다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테스트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케이스가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든든하게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검증해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주어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오히려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과감하게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개발할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수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있었습니다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.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현업에서는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보통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개발을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마친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뒤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검증하기에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TDD가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부담스럽게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느껴졌지만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,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초반에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들인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노력이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전체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과정의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수고를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오히려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줄여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준다는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것을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체감했습니다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.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또한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팀원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간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코드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리뷰를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통해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혼자서는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놓쳤을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이슈를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발견하고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서로의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의견을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반영하며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더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나은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코드를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만들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수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있었으며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, 이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리뷰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문화와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협업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방식을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부서에도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공유해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좋은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개발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문화로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정착시키고자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합니다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. AI(Claude)는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검증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부담을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크게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덜어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주었지만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,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당연히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지원될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거라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여겼던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구문이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빠져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있는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등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예상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밖의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구멍도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있어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팀원들이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직접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하나씩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써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보며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채워야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했습니다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.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AI와의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협업은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기대와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달랐던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반면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팀원들과의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협업은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기대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그대로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수월했고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,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필요한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일을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스스로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찾아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해내는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동료들의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모습에서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사람과의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협업이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왜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중요한지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다시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느낄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 수 </a:t>
            </a:r>
            <a:r>
              <a:rPr sz="1350" dirty="0" err="1">
                <a:solidFill>
                  <a:srgbClr val="262626"/>
                </a:solidFill>
                <a:latin typeface="Malgun Gothic"/>
              </a:rPr>
              <a:t>있었습니다</a:t>
            </a:r>
            <a:r>
              <a:rPr sz="1350" dirty="0">
                <a:solidFill>
                  <a:srgbClr val="262626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561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50" b="1">
                <a:solidFill>
                  <a:srgbClr val="005AB4"/>
                </a:solidFill>
                <a:latin typeface="Malgun Gothic"/>
              </a:rPr>
              <a:t>— Build Clean 팀  (우상욱 · 최종원 · 이수련 · 임지웅)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53328"/>
            <a:ext cx="10561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700" b="1">
                <a:solidFill>
                  <a:srgbClr val="262626"/>
                </a:solidFill>
                <a:latin typeface="Malgun Gothic"/>
              </a:rPr>
              <a:t>좋은 기회를 주셔서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5690</Words>
  <Application>Microsoft Office PowerPoint</Application>
  <PresentationFormat>사용자 지정</PresentationFormat>
  <Paragraphs>762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13</cp:revision>
  <dcterms:created xsi:type="dcterms:W3CDTF">2013-01-27T09:14:16Z</dcterms:created>
  <dcterms:modified xsi:type="dcterms:W3CDTF">2026-06-09T03:34:50Z</dcterms:modified>
  <cp:category/>
</cp:coreProperties>
</file>